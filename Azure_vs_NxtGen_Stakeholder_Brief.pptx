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lakh/mo</c:v>
                </c:pt>
              </c:strCache>
            </c:strRef>
          </c:tx>
          <c:spPr>
            <a:solidFill>
              <a:srgbClr val="2E77BC"/>
            </a:solidFill>
            <a:effectLst/>
          </c:spPr>
          <c:invertIfNegative val="0"/>
          <c:dLbls>
            <c:numFmt formatCode="₹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7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Azure
(as-billed)</c:v>
                  </c:pt>
                  <c:pt idx="1">
                    <c:v>NxtGen
(all-in managed)</c:v>
                  </c:pt>
                  <c:pt idx="2">
                    <c:v>NxtGen
(like-for-like)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2.63</c:v>
                </c:pt>
                <c:pt idx="1">
                  <c:v>2.75</c:v>
                </c:pt>
                <c:pt idx="2">
                  <c:v>1.19</c:v>
                </c:pt>
              </c:numCache>
            </c:numRef>
          </c:val>
        </c:ser>
        <c:dLbls>
          <c:numFmt formatCode="₹0.0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 →  NxtGen Private Cloud Migration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RedHat SpeedCloud proposal  ·  Inches Healthcare  ·  Stakeholder briefing  ·  Figures in INR per month, ex-tax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2A36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84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Inches Healthcare runs its production estate on Microsoft Azure —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VMs, 7 SQL databases, 2 MySQL servers, App Service, Front Door and Defender.</a:t>
            </a:r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migrating the same workload to the NxtGen SpeedCloud private cloud and decide on the basis of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management effort and security.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migrated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managed VMs · 18 vCPU · 72 GB RAM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databases → one Managed Database service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firewall + DDoS + 5 public IPs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managed operations + security (SOC)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2A3670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920240"/>
            <a:ext cx="109728" cy="1097280"/>
          </a:xfrm>
          <a:prstGeom prst="roundRect">
            <a:avLst>
              <a:gd name="adj" fmla="val 16667"/>
            </a:avLst>
          </a:prstGeom>
          <a:solidFill>
            <a:srgbClr val="2E77B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665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7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₹2.63 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0" y="2103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TODAY (as-billed)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24231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+ Defender · usage-metered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17754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2A367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3177540"/>
            <a:ext cx="109728" cy="109728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3238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₹2.75 L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686800" y="33604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NXTGEN — ALL-IN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36804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+ SOC bundled · flat price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443484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2A367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4434840"/>
            <a:ext cx="109728" cy="109728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5811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₹1.19 L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46177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INFRA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49377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infra + platform + perimeter · ~55% lower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76072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NxtGen's price bundles ₹1.55 L/mo of 24×7 managed services + a full SOC (SIEM · SOAR · XDR) that Azure's bill does not include.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Save and What You Gain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— 5 VMs, 18 vCPU, 7 databases — priced and operated two different ways.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2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 (₹ lakh / month)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74520"/>
          <a:ext cx="5166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417320"/>
            <a:ext cx="5760720" cy="2880360"/>
          </a:xfrm>
          <a:prstGeom prst="roundRect">
            <a:avLst>
              <a:gd name="adj" fmla="val 2540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/>
          <p:nvPr/>
        </p:nvSpPr>
        <p:spPr>
          <a:xfrm>
            <a:off x="6144768" y="15361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by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44768" y="193852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19202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7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network, perimeter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7589520" y="21945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NxtGen: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DDoS bundled; all-NVMe; no egress fees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6144768" y="2697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26791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7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+ 2 MySQL, metered per DB &amp; storage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7589520" y="295351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NxtGen: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Managed Database service (24×7 DBA)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6144768" y="34564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Managed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34381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7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only; ops self-run or extra MSP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7589520" y="3712464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NxtGen: </a:t>
            </a:r>
            <a:pPr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+ SIEM + SOAR + managed OS/VM/DB + AIOps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457200" y="452628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D9E6"/>
            </a:solidFill>
            <a:prstDash val="solid"/>
          </a:ln>
          <a:effectLst>
            <a:outerShdw sx="100000" sy="100000" kx="0" ky="0" algn="bl" rotWithShape="0" blurRad="50800" dist="25400" dir="5400000">
              <a:srgbClr val="B0B0B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" y="4681728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" y="4645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6656" y="50292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flat billing — no usage surprises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data-egress charges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Single-tenant, India-DC data residency (healthcare)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 for infra + managed + security + SLA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283964" y="452628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D9E6"/>
            </a:solidFill>
            <a:prstDash val="solid"/>
          </a:ln>
          <a:effectLst>
            <a:outerShdw sx="100000" sy="100000" kx="0" ky="0" algn="bl" rotWithShape="0" blurRad="50800" dist="25400" dir="5400000">
              <a:srgbClr val="B0B0B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5132" y="4681728"/>
            <a:ext cx="201168" cy="201168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4" name="Text 21"/>
          <p:cNvSpPr/>
          <p:nvPr/>
        </p:nvSpPr>
        <p:spPr>
          <a:xfrm>
            <a:off x="4759452" y="4645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03420" y="50292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+ 2 MySQL → one Managed Database line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Front Door / egress metering  ≈ ₹32k/mo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per-resource Defender  ≈ ₹27k/mo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yr term discount  10–20% off MRC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110728" y="452628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D9E6"/>
            </a:solidFill>
            <a:prstDash val="solid"/>
          </a:ln>
          <a:effectLst>
            <a:outerShdw sx="100000" sy="100000" kx="0" ky="0" algn="bl" rotWithShape="0" blurRad="50800" dist="25400" dir="5400000">
              <a:srgbClr val="B0B0B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11896" y="4681728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8586216" y="4645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BEYOND AZURE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330184" y="50292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SOC: SIEM + SOAR + XDR, 24×7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'Auto Intelli' operations dashboard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RedHat / OpenShift container platform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NGFW + DDoS-protected perimeter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migrate the production + Windows/SQL estate to NxtGen for a fully-managed, security-bundled private cloud at predictable cost; keep only Visual Studio subscriptions on Azure.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2026-08-12T07:47:23Z</dcterms:created>
  <dcterms:modified xsi:type="dcterms:W3CDTF">2026-08-12T07:47:23Z</dcterms:modified>
</cp:coreProperties>
</file>