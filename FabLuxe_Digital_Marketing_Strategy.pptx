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Digital Marketing &amp; Lead Generation for Fab Luxe. Four pillars — Attract, Capture, Convert, Measure. Inside: services, approach, delivery model, 90-day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end-to-end funnel from traffic sources to conversion, via campaign &amp; product landing pages. Objective panel on the right; services strip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nine services with the concrete deliverable for each — SEO, SEM, SMO/SMM, website, campaign landing pages, lead capture &amp; routing, email &amp; WhatsApp, creative, analytics.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on-site conversational AI lead agent. Engages every visitor 24/7, qualifies on budget/BHK/timeline/location, and verifies a real reachable buyer via OTP or CAPTCHA before routing the lead to CRM, WhatsApp and sales — filtering out spam and fake numbers. Platforms to evaluate (their own websites show a live agent): Landbot, Tidio, Intercom, Verloop.io; OTP/verification via MSG91 or Twilio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our approach (full-funnel, data-led, conversion-focused, always optimizing), our delivery model (dedicated pod, weekly sprints, transparent reporting, tools, single POC, monthly review), and a clean You-provide / We-deliver split between One Global/Fab Luxe and the Digital Marketing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fast-ramp timeline. Week 1 Plan &amp; Foundation; Week 2 Launch &amp; Scale (scale-up pulled forward into the launch week to cut time-to-scale); Week 3+ Generate &amp; Optimize continuously; then Ongoing — Stay Market-Ready, adjusting to real-estate cost shifts and attracting customers consistently. KPIs tracked weekly: traffic, leads, qualified leads, CPL, conversion rate, revenue,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landbot.io" TargetMode="External"/><Relationship Id="rId2" Type="http://schemas.openxmlformats.org/officeDocument/2006/relationships/hyperlink" Target="https://landbot.io" TargetMode="External"/><Relationship Id="rId3" Type="http://schemas.openxmlformats.org/officeDocument/2006/relationships/hyperlink" Target="https://www.tidio.com" TargetMode="External"/><Relationship Id="rId4" Type="http://schemas.openxmlformats.org/officeDocument/2006/relationships/hyperlink" Target="https://www.tidio.com" TargetMode="External"/><Relationship Id="rId5" Type="http://schemas.openxmlformats.org/officeDocument/2006/relationships/hyperlink" Target="https://www.intercom.com" TargetMode="External"/><Relationship Id="rId6" Type="http://schemas.openxmlformats.org/officeDocument/2006/relationships/hyperlink" Target="https://www.intercom.com" TargetMode="External"/><Relationship Id="rId7" Type="http://schemas.openxmlformats.org/officeDocument/2006/relationships/hyperlink" Target="https://verloop.io" TargetMode="External"/><Relationship Id="rId8" Type="http://schemas.openxmlformats.org/officeDocument/2006/relationships/hyperlink" Target="https://verloop.io" TargetMode="External"/><Relationship Id="rId9" Type="http://schemas.openxmlformats.org/officeDocument/2006/relationships/hyperlink" Target="https://msg91.com" TargetMode="External"/><Relationship Id="rId10" Type="http://schemas.openxmlformats.org/officeDocument/2006/relationships/hyperlink" Target="https://msg91.com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548640"/>
            <a:ext cx="493776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 ·  LEAD GENERATION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Marketing &amp;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Generation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attract, capture, qualify and convert — turning digital visibility into measurable, qualified business for Fab Luxe.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SEM · Social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35858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10178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2" name="Text 10"/>
          <p:cNvSpPr/>
          <p:nvPr/>
        </p:nvSpPr>
        <p:spPr>
          <a:xfrm>
            <a:off x="3938778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10178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· WhatsApp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5956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6" name="Text 14"/>
          <p:cNvSpPr/>
          <p:nvPr/>
        </p:nvSpPr>
        <p:spPr>
          <a:xfrm>
            <a:off x="6734556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05956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· Assign · Follow-up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27414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1734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0" name="Text 18"/>
          <p:cNvSpPr/>
          <p:nvPr/>
        </p:nvSpPr>
        <p:spPr>
          <a:xfrm>
            <a:off x="9530334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01734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CPL · ROI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  </a:t>
            </a:r>
            <a:pPr indent="0" marL="0">
              <a:buNone/>
            </a:pPr>
            <a:r>
              <a:rPr lang="en-US" sz="1150" spc="1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·  AI Lead Agent  ·  Approach &amp; Delivery  ·  Fast-Ramp Timeline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1E2530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DO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Lead-Generation Funnel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digital visibility, generate qualified leads, and convert them into measurable business.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162763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262E3A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62763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· SEO · SEM · Social Media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03320" y="20848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4420" y="2203704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74420" y="220370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&amp; Product Landing Pages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03320" y="266090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2779776"/>
            <a:ext cx="493776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· WhatsApp · Call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03320" y="323697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68780" y="3355848"/>
            <a:ext cx="434340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668780" y="33558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Qualification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381304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65960" y="3931920"/>
            <a:ext cx="374904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96596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Assignment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63140" y="4507992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63140" y="45079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03320" y="496519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5084064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A15B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5084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52360" y="1627632"/>
            <a:ext cx="4096512" cy="3986784"/>
          </a:xfrm>
          <a:prstGeom prst="roundRect">
            <a:avLst>
              <a:gd name="adj" fmla="val 1835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0" y="182880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2286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65592" y="2249424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get found across search + social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65592" y="3182112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Capture, route &amp; qualify real buyers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65592" y="411480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 sales → close → revenue &amp; ROI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0" y="5138928"/>
            <a:ext cx="3456432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0" y="5230368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tracked &amp; reported.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870448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870448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algn="ctr" indent="0" marL="0">
              <a:buNone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SMO · SEM · SMM · Website · Landing Pages · Lead Capture &amp; Routing · Email &amp; WhatsApp · Social &amp; Paid Boosting · Graphics / Video / Content · Analytics &amp; Reporting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SERVICES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Deliver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&amp; Local SEO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organic + Google Maps rankings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3024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7344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4657344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1704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· Google Ads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5632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paid leads, fast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25968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288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7" name="Text 15"/>
          <p:cNvSpPr/>
          <p:nvPr/>
        </p:nvSpPr>
        <p:spPr>
          <a:xfrm>
            <a:off x="840028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94648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/ SMM · Boosting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8576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growth + paid amplification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 &amp; Mgmt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32688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global, conversion-ready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3024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57344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7" name="Text 25"/>
          <p:cNvSpPr/>
          <p:nvPr/>
        </p:nvSpPr>
        <p:spPr>
          <a:xfrm>
            <a:off x="4657344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1704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Landing Pages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675632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High-converting pages · WhatsApp / Call CTAs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25968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0288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2" name="Text 30"/>
          <p:cNvSpPr/>
          <p:nvPr/>
        </p:nvSpPr>
        <p:spPr>
          <a:xfrm>
            <a:off x="8400288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994648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Capture &amp; Routing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418576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→ CRM → sales assignment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4400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508760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&amp; WhatsApp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32688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nurture &amp; broadcasts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383024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57344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42" name="Text 40"/>
          <p:cNvSpPr/>
          <p:nvPr/>
        </p:nvSpPr>
        <p:spPr>
          <a:xfrm>
            <a:off x="4657344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251704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Graphics · Video · Content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4675632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Scroll-stopping creative &amp; posts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125968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400288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6A15B"/>
          </a:solidFill>
          <a:ln/>
        </p:spPr>
      </p:sp>
      <p:sp>
        <p:nvSpPr>
          <p:cNvPr id="47" name="Text 45"/>
          <p:cNvSpPr/>
          <p:nvPr/>
        </p:nvSpPr>
        <p:spPr>
          <a:xfrm>
            <a:off x="8400288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994648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&amp; Reporting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418576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tracking &amp; ROI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AI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Lead Agent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1155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24/7 chat agent on your website that qualifies visitors and confirms real buyers with OTP / CAPTCHA.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931920" cy="3767328"/>
          </a:xfrm>
          <a:prstGeom prst="roundRect">
            <a:avLst>
              <a:gd name="adj" fmla="val 242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78992" y="1819656"/>
            <a:ext cx="128016" cy="128016"/>
          </a:xfrm>
          <a:prstGeom prst="ellipse">
            <a:avLst/>
          </a:prstGeom>
          <a:solidFill>
            <a:srgbClr val="7FB77E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Assistant   </a:t>
            </a:r>
            <a:pPr indent="0" marL="0">
              <a:buNone/>
            </a:pPr>
            <a:r>
              <a:rPr lang="en-US" sz="950" dirty="0">
                <a:solidFill>
                  <a:srgbClr val="7F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2148840"/>
            <a:ext cx="3566160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258568"/>
            <a:ext cx="2743200" cy="402336"/>
          </a:xfrm>
          <a:prstGeom prst="roundRect">
            <a:avLst>
              <a:gd name="adj" fmla="val 18182"/>
            </a:avLst>
          </a:prstGeom>
          <a:solidFill>
            <a:srgbClr val="262E3A"/>
          </a:solidFill>
          <a:ln/>
        </p:spPr>
      </p:sp>
      <p:sp>
        <p:nvSpPr>
          <p:cNvPr id="11" name="Text 9"/>
          <p:cNvSpPr/>
          <p:nvPr/>
        </p:nvSpPr>
        <p:spPr>
          <a:xfrm>
            <a:off x="1133856" y="225856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Hi! 3 or 4 BHK — which suits you?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88920" y="2734056"/>
            <a:ext cx="1783080" cy="365760"/>
          </a:xfrm>
          <a:prstGeom prst="roundRect">
            <a:avLst>
              <a:gd name="adj" fmla="val 20000"/>
            </a:avLst>
          </a:prstGeom>
          <a:solidFill>
            <a:srgbClr val="C6A15B"/>
          </a:solidFill>
          <a:ln/>
        </p:spPr>
      </p:sp>
      <p:sp>
        <p:nvSpPr>
          <p:cNvPr id="13" name="Text 11"/>
          <p:cNvSpPr/>
          <p:nvPr/>
        </p:nvSpPr>
        <p:spPr>
          <a:xfrm>
            <a:off x="2916936" y="2734056"/>
            <a:ext cx="152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BHK, ready to move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5840" y="317296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26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133856" y="317296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— your mobile for price &amp; options?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3794760"/>
            <a:ext cx="1783080" cy="365760"/>
          </a:xfrm>
          <a:prstGeom prst="roundRect">
            <a:avLst>
              <a:gd name="adj" fmla="val 20000"/>
            </a:avLst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2916936" y="3794760"/>
            <a:ext cx="152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98XXXX21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4233672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262E3A"/>
          </a:solidFill>
          <a:ln/>
        </p:spPr>
      </p:sp>
      <p:sp>
        <p:nvSpPr>
          <p:cNvPr id="19" name="Text 17"/>
          <p:cNvSpPr/>
          <p:nvPr/>
        </p:nvSpPr>
        <p:spPr>
          <a:xfrm>
            <a:off x="1133856" y="423367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OTP to verify: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05840" y="4727448"/>
            <a:ext cx="3566160" cy="420624"/>
          </a:xfrm>
          <a:prstGeom prst="roundRect">
            <a:avLst>
              <a:gd name="adj" fmla="val 21739"/>
            </a:avLst>
          </a:prstGeom>
          <a:solidFill>
            <a:srgbClr val="E3C892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7274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Verified real buyer  →  sales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1645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66360" y="2029968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663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88152" y="202996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 with every website visitor, 24/7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166360" y="265176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88152" y="26517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· BHK · timeline · location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166360" y="3273552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88152" y="327355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or CAPTCHA confirms a real, reachable buyer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5166360" y="3895344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6636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788152" y="389534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lead → CRM · WhatsApp · sales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5166360" y="4590288"/>
            <a:ext cx="6382512" cy="621792"/>
          </a:xfrm>
          <a:prstGeom prst="roundRect">
            <a:avLst>
              <a:gd name="adj" fmla="val 11765"/>
            </a:avLst>
          </a:prstGeom>
          <a:solidFill>
            <a:srgbClr val="262E3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40680" y="4590288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</a:t>
            </a:r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real, verified buyers — spam &amp; fake numbers filtered out.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" y="54864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TO EVALUATE  (live chat agents visible on each site)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" y="5779008"/>
            <a:ext cx="2020824" cy="457200"/>
          </a:xfrm>
          <a:prstGeom prst="roundRect">
            <a:avLst>
              <a:gd name="adj" fmla="val 2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39" name="Text 37">
            <a:hlinkClick r:id="rId1" tooltip=""/>
          </p:cNvPr>
          <p:cNvSpPr/>
          <p:nvPr/>
        </p:nvSpPr>
        <p:spPr>
          <a:xfrm>
            <a:off x="640080" y="579729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Landbot</a:t>
            </a:r>
            <a:endParaRPr lang="en-US" sz="1100" dirty="0"/>
          </a:p>
        </p:txBody>
      </p:sp>
      <p:sp>
        <p:nvSpPr>
          <p:cNvPr id="40" name="Text 38">
            <a:hlinkClick r:id="rId2" tooltip=""/>
          </p:cNvPr>
          <p:cNvSpPr/>
          <p:nvPr/>
        </p:nvSpPr>
        <p:spPr>
          <a:xfrm>
            <a:off x="640080" y="601675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landbot.io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862072" y="5779008"/>
            <a:ext cx="2020824" cy="457200"/>
          </a:xfrm>
          <a:prstGeom prst="roundRect">
            <a:avLst>
              <a:gd name="adj" fmla="val 2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42" name="Text 40">
            <a:hlinkClick r:id="rId3" tooltip=""/>
          </p:cNvPr>
          <p:cNvSpPr/>
          <p:nvPr/>
        </p:nvSpPr>
        <p:spPr>
          <a:xfrm>
            <a:off x="2862072" y="579729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Tidio</a:t>
            </a:r>
            <a:endParaRPr lang="en-US" sz="1100" dirty="0"/>
          </a:p>
        </p:txBody>
      </p:sp>
      <p:sp>
        <p:nvSpPr>
          <p:cNvPr id="43" name="Text 41">
            <a:hlinkClick r:id="rId4" tooltip=""/>
          </p:cNvPr>
          <p:cNvSpPr/>
          <p:nvPr/>
        </p:nvSpPr>
        <p:spPr>
          <a:xfrm>
            <a:off x="2862072" y="601675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tidio.com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084064" y="5779008"/>
            <a:ext cx="2020824" cy="457200"/>
          </a:xfrm>
          <a:prstGeom prst="roundRect">
            <a:avLst>
              <a:gd name="adj" fmla="val 2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45" name="Text 43">
            <a:hlinkClick r:id="rId5" tooltip=""/>
          </p:cNvPr>
          <p:cNvSpPr/>
          <p:nvPr/>
        </p:nvSpPr>
        <p:spPr>
          <a:xfrm>
            <a:off x="5084064" y="579729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Intercom</a:t>
            </a:r>
            <a:endParaRPr lang="en-US" sz="1100" dirty="0"/>
          </a:p>
        </p:txBody>
      </p:sp>
      <p:sp>
        <p:nvSpPr>
          <p:cNvPr id="46" name="Text 44">
            <a:hlinkClick r:id="rId6" tooltip=""/>
          </p:cNvPr>
          <p:cNvSpPr/>
          <p:nvPr/>
        </p:nvSpPr>
        <p:spPr>
          <a:xfrm>
            <a:off x="5084064" y="601675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intercom.com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306056" y="5779008"/>
            <a:ext cx="2020824" cy="457200"/>
          </a:xfrm>
          <a:prstGeom prst="roundRect">
            <a:avLst>
              <a:gd name="adj" fmla="val 2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48" name="Text 46">
            <a:hlinkClick r:id="rId7" tooltip=""/>
          </p:cNvPr>
          <p:cNvSpPr/>
          <p:nvPr/>
        </p:nvSpPr>
        <p:spPr>
          <a:xfrm>
            <a:off x="7306056" y="579729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Verloop.io</a:t>
            </a:r>
            <a:endParaRPr lang="en-US" sz="1100" dirty="0"/>
          </a:p>
        </p:txBody>
      </p:sp>
      <p:sp>
        <p:nvSpPr>
          <p:cNvPr id="49" name="Text 47">
            <a:hlinkClick r:id="rId8" tooltip=""/>
          </p:cNvPr>
          <p:cNvSpPr/>
          <p:nvPr/>
        </p:nvSpPr>
        <p:spPr>
          <a:xfrm>
            <a:off x="7306056" y="601675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verloop.io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9528048" y="5779008"/>
            <a:ext cx="2020824" cy="457200"/>
          </a:xfrm>
          <a:prstGeom prst="roundRect">
            <a:avLst>
              <a:gd name="adj" fmla="val 2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51" name="Text 49">
            <a:hlinkClick r:id="rId9" tooltip=""/>
          </p:cNvPr>
          <p:cNvSpPr/>
          <p:nvPr/>
        </p:nvSpPr>
        <p:spPr>
          <a:xfrm>
            <a:off x="9528048" y="579729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MSG91 · OTP</a:t>
            </a:r>
            <a:endParaRPr lang="en-US" sz="1100" dirty="0"/>
          </a:p>
        </p:txBody>
      </p:sp>
      <p:sp>
        <p:nvSpPr>
          <p:cNvPr id="52" name="Text 50">
            <a:hlinkClick r:id="rId10" tooltip=""/>
          </p:cNvPr>
          <p:cNvSpPr/>
          <p:nvPr/>
        </p:nvSpPr>
        <p:spPr>
          <a:xfrm>
            <a:off x="9528048" y="601675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msg91.com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1E2530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 &amp; Delivery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Full-Funnel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 from click to close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965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43159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Data-Led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from analytics, tracking &amp; CPL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Conversion-Focused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&amp; CTAs built to convert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965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Optimizing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tests — scale what works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508760"/>
            <a:ext cx="4416552" cy="2999232"/>
          </a:xfrm>
          <a:prstGeom prst="roundRect">
            <a:avLst>
              <a:gd name="adj" fmla="val 243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52360" y="169164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DELIVER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0" y="2103120"/>
            <a:ext cx="3730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marketing pod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weekly sprints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weekly reporting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tools &amp; tracking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performance review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Provide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Global · Fab Luxe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assets &amp; guidelines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info &amp; content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12998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to close leads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77356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0E1116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51676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Deliver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Team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88252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+ full-channel execution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creative &amp; landing pages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50274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capture, routing &amp; CRM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optimization &amp; reporting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FAST-RAMP ROLLOUT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&amp; KPIs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883664" y="1719072"/>
            <a:ext cx="8421624" cy="0"/>
          </a:xfrm>
          <a:prstGeom prst="line">
            <a:avLst/>
          </a:prstGeom>
          <a:noFill/>
          <a:ln w="25400">
            <a:solidFill>
              <a:srgbClr val="E4E0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91056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&amp; Foundation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96112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audit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&amp; keyword research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&amp; market mapping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Lead-routing design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MoU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98264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98264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447288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75888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75888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&amp; Scale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03320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landing pages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tracking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live: SEO/SEM/SMM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winning pages fast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channels &amp; budgets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05472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05472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54496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83096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83096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&amp; Optimize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10528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lead generation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&amp; assign leads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optimization &amp; A/B tests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CPL, QL &amp; ROI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012680" y="1426464"/>
            <a:ext cx="585216" cy="585216"/>
          </a:xfrm>
          <a:prstGeom prst="ellipse">
            <a:avLst/>
          </a:prstGeom>
          <a:solidFill>
            <a:srgbClr val="C6A1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12680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061704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90304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0304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Market-Ready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317736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to real-estate cost shifts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CPL efficient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 customers consistently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what works, cut the rest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2688" y="55046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  </a:t>
            </a:r>
            <a:pPr indent="0" marL="0">
              <a:buNone/>
            </a:pPr>
            <a:r>
              <a:rPr lang="en-US" sz="10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&amp; reported weekly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21807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4" name="Text 32"/>
          <p:cNvSpPr/>
          <p:nvPr/>
        </p:nvSpPr>
        <p:spPr>
          <a:xfrm>
            <a:off x="225464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79606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6" name="Text 34"/>
          <p:cNvSpPr/>
          <p:nvPr/>
        </p:nvSpPr>
        <p:spPr>
          <a:xfrm>
            <a:off x="383264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7405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8" name="Text 36"/>
          <p:cNvSpPr/>
          <p:nvPr/>
        </p:nvSpPr>
        <p:spPr>
          <a:xfrm>
            <a:off x="541063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95205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40" name="Text 38"/>
          <p:cNvSpPr/>
          <p:nvPr/>
        </p:nvSpPr>
        <p:spPr>
          <a:xfrm>
            <a:off x="698862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3004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2" name="Text 40"/>
          <p:cNvSpPr/>
          <p:nvPr/>
        </p:nvSpPr>
        <p:spPr>
          <a:xfrm>
            <a:off x="856662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10803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4" name="Text 42"/>
          <p:cNvSpPr/>
          <p:nvPr/>
        </p:nvSpPr>
        <p:spPr>
          <a:xfrm>
            <a:off x="1014461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 Luxe — Digital Marketing &amp; Lead Generation Strategy</dc:title>
  <dc:subject>PptxGenJS Presentation</dc:subject>
  <dc:creator>Fab Luxe</dc:creator>
  <cp:lastModifiedBy>Fab Luxe</cp:lastModifiedBy>
  <cp:revision>1</cp:revision>
  <dcterms:created xsi:type="dcterms:W3CDTF">2026-08-20T18:17:36Z</dcterms:created>
  <dcterms:modified xsi:type="dcterms:W3CDTF">2026-08-20T18:17:36Z</dcterms:modified>
</cp:coreProperties>
</file>