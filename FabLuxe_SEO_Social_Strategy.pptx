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Effort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A15B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B85042"/>
              </a:solidFill>
              <a:effectLst/>
            </c:spPr>
          </c:dPt>
          <c:dPt>
            <c:idx val="3"/>
            <c:bubble3D val="0"/>
            <c:spPr>
              <a:solidFill>
                <a:srgbClr val="2C5F2D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Social Content</c:v>
                </c:pt>
                <c:pt idx="1">
                  <c:v>Technical SEO</c:v>
                </c:pt>
                <c:pt idx="2">
                  <c:v>Performance</c:v>
                </c:pt>
                <c:pt idx="3">
                  <c:v>Structured Data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E2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Fab Luxe SEO &amp; Social Media strategy and architecture for fabluxe.co.in. Four workstreams: technical SEO, structured data, social distribution,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architecture: audience and discovery feed three pillars — website core, social channels, and paid ads — all flowing into the automation engine (n8n/Zapier) and CRM, producing qualified leads and site visits, with nurture and retargeting looping back to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and objectives. Four goals: local intent, rich results, social CTR, HNI lead conversion. Footprint: 5 templates, 4 schema types, 5 channels. Priority keywords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four dependent layers. Foundation and crawl control at the base, then content and metadata, then structured data, then social distribution. Build bottom-up.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in four phases: Foundation (wk1-2), Metadata (wk2-3), Schema and Speed (wk3-5), Distribution (ongoing). Milestone gate: CI validation and rich results before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On-page metadata detail. SERP preview mock at left with the pixel and uniqueness rules. Right shows the dynamic title/description template with rotating differentiators and CTAs plus a fallback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Graph and preview cards. Left: a share-card mock at 1200x630. Right: the per-platform dimension table. Rule: WhatsApp OG under 300KB, verify in debuggers.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data: four JSON-LD types mapped to page types. RealEstateListing on properties, HomeAndConstructionBusiness on interiors, FAQPage for questions, Organization+WebSite on homepage. Validate all; only mark up visible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Indexing architecture: canonical domain, robots.txt, XML sitemaps. Critical caveat: Disallow blocks crawling not indexing; use noindex meta to de-index.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Web Vitals targets: LCP &lt;=2.5s, INP &lt;=200ms, CLS &lt;=0.1. Checklist covers hero image handling, dimensions on all media, lazy-loading and 3D-tour facades. Measure via PageSpeed and Lighthouse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matrix across four channels: Instagram/Pinterest for visuals, LinkedIn for B2B authority, YouTube for search and trust, Reels/Shorts for reach. Each with role and tactics.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content pillars: 3D renders, site progress, AQI and wellness, material textures, amenities and lifestyle. Effort allocation doughnut: social content 35%, technical SEO 30%, performance 20%, structured data 15%.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workflow: validate crawl files, check meta/OG/canonical tags per page, verify JSON-LD parses, and gate everything in CI on push plus a weekly cron. Bash, PowerShell and GitHub Actions provided.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KPIs across the funnel: organic clicks, keyword rankings, rich-result coverage, social referral, Core Web Vitals pass rate, and qualified lead enquiries — each with its data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checklist across two columns and the RERA compliance reminder. Close: fill every placeholder, pass every check, then push for 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II divider: integration and automation across WhatsApp, Facebook, Instagram, Threads and more, using tools like n8n and Zapier.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picture: content hub feeds publishing, which drives capture via WhatsApp and lead ads, which flows to an automation engine and CRM, then loops back as nurture and retargeting. Core principle: speed-to-lead.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Foundation: Meta Business Manager is the hub that owns Facebook Page, Instagram Business, Threads, WhatsApp API, Ads Manager plus Pixel, and Catalog plus domain verification. Create all inside Business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WhatsApp is the top conversion channel in India. Business App suits tiny scale; the Business Platform API is recommended for automation, broadcasts and click-to-WhatsApp ads. Access via Meta Cloud API or an Indian BSP. Respect the 24-hour window and opt-in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 matrix: role and API for WhatsApp, Facebook, Instagram, Threads, YouTube, Pinterest and LinkedIn.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automation approaches compared: Meta Suite native, Zapier, Make, and n8n (self-hosted, recommended engine). Decision shortcut: Zapier to launch fast, n8n for data ownership and scale, a scheduler like Metricool for publishing including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automations to build: speed-to-lead, web enquiry, publish once, video blast, visit reminders, review engine — each tagged with the recommended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Paid funnel: awareness, consideration, conversion (lead ads plus click-to-WhatsApp), retargeting. Enablers: Pixel and Conversions API, custom and lookalike audiences, catalog dynamic ads, click-to-WhatsApp. India: housing is not a Special Ad Category but follow policy and RERA.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Enablement checklist grouped into four: Business and Identity, WhatsApp, Ads and Tracking, Automation and Compliance. Each with four items to turn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Rollout in five phases from foundation to optimisation. Recommended stack: n8n or Zapier engine, an Indian WhatsApp BSP, Metricool for publishing, a CRM path from Sheet to HubSpot/Zoho, and Meta Ads with Pixel and CAPI. Fastest path: WhatsApp API plus click-to-WhatsApp ads plus publish-once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-548640"/>
            <a:ext cx="5120640" cy="76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REAL ESTATE  ·  INTERIOR EXECUTION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&amp; Social Media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&amp; Architecture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plan, system architecture, and step-by-step execution blueprint for fabluxe.co.in — Greater Noida West.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667866" cy="45720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9525">
            <a:solidFill>
              <a:srgbClr val="C6A1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74920"/>
            <a:ext cx="1667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36546" y="5074920"/>
            <a:ext cx="1865376" cy="45720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9525">
            <a:solidFill>
              <a:srgbClr val="C6A1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6546" y="5074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30522" y="5074920"/>
            <a:ext cx="2260397" cy="45720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9525">
            <a:solidFill>
              <a:srgbClr val="C6A1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0522" y="5074920"/>
            <a:ext cx="226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Distribution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19518" y="5074920"/>
            <a:ext cx="1470355" cy="45720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9525">
            <a:solidFill>
              <a:srgbClr val="C6A1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9518" y="5074920"/>
            <a:ext cx="1470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30 Jul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08792" cy="603504"/>
          </a:xfrm>
          <a:prstGeom prst="roundRect">
            <a:avLst>
              <a:gd name="adj" fmla="val 10606"/>
            </a:avLst>
          </a:prstGeom>
          <a:solidFill>
            <a:srgbClr val="262E3A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10177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DISCOVERY      </a:t>
            </a:r>
            <a:pPr algn="ctr"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 ·  Social feeds  ·  Google Maps  ·  Referrals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53412" y="1984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11596" y="1984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69780" y="1984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3392424" cy="1810512"/>
          </a:xfrm>
          <a:prstGeom prst="roundRect">
            <a:avLst>
              <a:gd name="adj" fmla="val 4040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963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Core</a:t>
            </a:r>
            <a:pPr indent="0" marL="0">
              <a:buNone/>
            </a:pPr>
            <a:r>
              <a:rPr lang="en-US" sz="100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fabluxe.co.in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35224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foundation &amp; metadata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schema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 previews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98264" y="2331720"/>
            <a:ext cx="3392424" cy="1810512"/>
          </a:xfrm>
          <a:prstGeom prst="roundRect">
            <a:avLst>
              <a:gd name="adj" fmla="val 4040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24963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Channels</a:t>
            </a:r>
            <a:pPr indent="0" marL="0">
              <a:buNone/>
            </a:pPr>
            <a:r>
              <a:rPr lang="en-US" sz="100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organic reach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90872" y="2935224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(API)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· Instagram · Threads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Pinterest · LinkedIn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Publish-once automation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6448" y="2331720"/>
            <a:ext cx="3392424" cy="1810512"/>
          </a:xfrm>
          <a:prstGeom prst="roundRect">
            <a:avLst>
              <a:gd name="adj" fmla="val 4040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4963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Ads</a:t>
            </a:r>
            <a:pPr indent="0" marL="0">
              <a:buNone/>
            </a:pPr>
            <a:r>
              <a:rPr lang="en-US" sz="100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9056" y="2935224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+ Conversions API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Ads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Click-to-WhatsApp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&amp; lookalikes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11596" y="4206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10908792" cy="658368"/>
          </a:xfrm>
          <a:prstGeom prst="roundRect">
            <a:avLst>
              <a:gd name="adj" fmla="val 9722"/>
            </a:avLst>
          </a:prstGeom>
          <a:solidFill>
            <a:srgbClr val="C6A15B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452628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      </a:t>
            </a:r>
            <a:pPr algn="ctr" indent="0" marL="0">
              <a:buNone/>
            </a:pPr>
            <a:r>
              <a:rPr lang="en-US" sz="125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Zapier   →   CRM (single source of truth)   →   instant WhatsApp response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11596" y="52303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504688"/>
            <a:ext cx="10908792" cy="603504"/>
          </a:xfrm>
          <a:prstGeom prst="roundRect">
            <a:avLst>
              <a:gd name="adj" fmla="val 10606"/>
            </a:avLst>
          </a:prstGeom>
          <a:solidFill>
            <a:srgbClr val="262E3A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504688"/>
            <a:ext cx="10177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     </a:t>
            </a:r>
            <a:pPr algn="ctr"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HNI leads  ·  booked site visits  ·  nurture &amp; retargeting loops back to the audience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6245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local intent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for luxury-apartment and interior-execution searches in Greater Noida West.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457200" cy="457200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38658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rich results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schema so listings, business, and FAQs surface with rich SERP features.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4107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social CTR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shared link renders a designed, on-brand preview card across platforms.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489704"/>
            <a:ext cx="457200" cy="457200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434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HNI leads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organic + social visibility into qualified site-visit enquiries.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60920" y="1417320"/>
            <a:ext cx="4187952" cy="2011680"/>
          </a:xfrm>
          <a:prstGeom prst="roundRect">
            <a:avLst>
              <a:gd name="adj" fmla="val 3636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35240" y="160020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FOOTPRINT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35240" y="1920240"/>
            <a:ext cx="1213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635240" y="2697480"/>
            <a:ext cx="1213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templates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48344" y="1920240"/>
            <a:ext cx="1213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848344" y="2697480"/>
            <a:ext cx="1213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types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61448" y="1920240"/>
            <a:ext cx="1213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10061448" y="2697480"/>
            <a:ext cx="1213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channels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60920" y="370332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KEYWORDS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60920" y="4069080"/>
            <a:ext cx="4187952" cy="475488"/>
          </a:xfrm>
          <a:prstGeom prst="roundRect">
            <a:avLst>
              <a:gd name="adj" fmla="val 1923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4251960"/>
            <a:ext cx="109728" cy="10972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406908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Apartments in Greater Noida West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60920" y="4636008"/>
            <a:ext cx="4187952" cy="475488"/>
          </a:xfrm>
          <a:prstGeom prst="roundRect">
            <a:avLst>
              <a:gd name="adj" fmla="val 1923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4818888"/>
            <a:ext cx="109728" cy="10972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4636008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BHK &amp; 4 BHK Luxury Residences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60920" y="5202936"/>
            <a:ext cx="4187952" cy="475488"/>
          </a:xfrm>
          <a:prstGeom prst="roundRect">
            <a:avLst>
              <a:gd name="adj" fmla="val 1923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5385816"/>
            <a:ext cx="109728" cy="10972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520293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AQI-managed living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360920" y="5769864"/>
            <a:ext cx="4187952" cy="475488"/>
          </a:xfrm>
          <a:prstGeom prst="roundRect">
            <a:avLst>
              <a:gd name="adj" fmla="val 1923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5952744"/>
            <a:ext cx="109728" cy="10972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576986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Interior Execution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Four-Layer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589520" cy="841248"/>
          </a:xfrm>
          <a:prstGeom prst="roundRect">
            <a:avLst>
              <a:gd name="adj" fmla="val 7609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618488"/>
            <a:ext cx="438912" cy="438912"/>
          </a:xfrm>
          <a:prstGeom prst="ellipse">
            <a:avLst/>
          </a:prstGeom>
          <a:solidFill>
            <a:srgbClr val="141A22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490472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Distribution &amp; Authority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Pinterest · LinkedIn · YouTube · sameAs entity bridge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368296"/>
            <a:ext cx="7589520" cy="841248"/>
          </a:xfrm>
          <a:prstGeom prst="roundRect">
            <a:avLst>
              <a:gd name="adj" fmla="val 7609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569464"/>
            <a:ext cx="438912" cy="438912"/>
          </a:xfrm>
          <a:prstGeom prst="ellipse">
            <a:avLst/>
          </a:prstGeom>
          <a:solidFill>
            <a:srgbClr val="141A22"/>
          </a:solidFill>
          <a:ln w="15875">
            <a:solidFill>
              <a:srgbClr val="E3C8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69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441448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(JSON-LD)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RealEstateListing · HomeAndConstructionBusiness · FAQPage · Organization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319272"/>
            <a:ext cx="7589520" cy="841248"/>
          </a:xfrm>
          <a:prstGeom prst="roundRect">
            <a:avLst>
              <a:gd name="adj" fmla="val 7609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520440"/>
            <a:ext cx="438912" cy="438912"/>
          </a:xfrm>
          <a:prstGeom prst="ellipse">
            <a:avLst/>
          </a:prstGeom>
          <a:solidFill>
            <a:srgbClr val="141A22"/>
          </a:solidFill>
          <a:ln w="15875">
            <a:solidFill>
              <a:srgbClr val="BFC7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C7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392424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Metadata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· Descriptions · Open Graph · Twitter Cards · previews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270248"/>
            <a:ext cx="7589520" cy="841248"/>
          </a:xfrm>
          <a:prstGeom prst="roundRect">
            <a:avLst>
              <a:gd name="adj" fmla="val 7609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4471416"/>
            <a:ext cx="438912" cy="438912"/>
          </a:xfrm>
          <a:prstGeom prst="ellipse">
            <a:avLst/>
          </a:prstGeom>
          <a:solidFill>
            <a:srgbClr val="141A22"/>
          </a:solidFill>
          <a:ln w="15875">
            <a:solidFill>
              <a:srgbClr val="8B93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471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9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34340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Crawl Control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domain · 301 redirects · robots.txt · XML sitemaps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595360" y="1417320"/>
            <a:ext cx="2953512" cy="3913632"/>
          </a:xfrm>
          <a:prstGeom prst="roundRect">
            <a:avLst>
              <a:gd name="adj" fmla="val 2477"/>
            </a:avLst>
          </a:prstGeom>
          <a:solidFill>
            <a:srgbClr val="C6A15B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69680" y="164592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2057400"/>
            <a:ext cx="24048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→"/>
            </a:pPr>
            <a:r>
              <a:rPr lang="en-US" sz="145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local rankings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→"/>
            </a:pPr>
            <a:r>
              <a:rPr lang="en-US" sz="145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SERP results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→"/>
            </a:pPr>
            <a:r>
              <a:rPr lang="en-US" sz="145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social previews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→"/>
            </a:pPr>
            <a:r>
              <a:rPr lang="en-US" sz="145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Knowledge Panel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→"/>
            </a:pPr>
            <a:r>
              <a:rPr lang="en-US" sz="145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HNI enquiries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5532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depends on the one beneath it — build bottom-up: foundation first, distribution last.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63624" y="1554480"/>
            <a:ext cx="640080" cy="640080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6" name="Text 4"/>
          <p:cNvSpPr/>
          <p:nvPr/>
        </p:nvSpPr>
        <p:spPr>
          <a:xfrm>
            <a:off x="156362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6060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8529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3101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207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single canonical domain (HTTPS, non-www)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robots.txt + sitemap index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Search Console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554480"/>
            <a:ext cx="640080" cy="640080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447288" y="242316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75888" y="26060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75888" y="28529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75888" y="33101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75888" y="3703320"/>
            <a:ext cx="207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title/description templates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Open Graph + Twitter Cards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social preview images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254496" y="242316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83096" y="26060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83096" y="28529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&amp; Speed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83096" y="33101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83096" y="3703320"/>
            <a:ext cx="207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all four JSON-LD types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Core Web Vitals (LCP/CLS/INP)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rich results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85248" y="1554480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7" name="Text 25"/>
          <p:cNvSpPr/>
          <p:nvPr/>
        </p:nvSpPr>
        <p:spPr>
          <a:xfrm>
            <a:off x="998524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061704" y="242316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90304" y="26060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90304" y="28529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290304" y="33101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90304" y="3703320"/>
            <a:ext cx="207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content pillars &amp; cadence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sameAs to Knowledge Panel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validation in CI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validation passing in CI and rich results confirmed before public launch push.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 · DETAIL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That Wins the Click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E4E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 PREVIEW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fabluxe.co.in › apartments › 3-bhk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BHK Luxury Apartments in Greater Noida West | Fab Luxe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5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an AQI-managed 3 BHK luxury residence in Greater Noida West. Premium fittings, curated amenities &amp; RERA-ready homes. Enquire for pricing &amp; floor plans.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023360"/>
            <a:ext cx="310896" cy="31089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</a:t>
            </a:r>
            <a:pPr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60 chars · ~580px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233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keyword, brand last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681728"/>
            <a:ext cx="310896" cy="31089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5902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 </a:t>
            </a:r>
            <a:pPr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155 chars · ~920px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differentiator + CTA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340096"/>
            <a:ext cx="310896" cy="31089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2486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 </a:t>
            </a:r>
            <a:pPr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URL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5550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duplicate across pages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1508760"/>
            <a:ext cx="4462272" cy="4434840"/>
          </a:xfrm>
          <a:prstGeom prst="roundRect">
            <a:avLst>
              <a:gd name="adj" fmla="val 1649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173736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TEMPLATE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2148840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3C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=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{{Keyword}} in {{Location}} | Fab Luxe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06640" y="2880360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3C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 =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{{ValueProp}} {{Location}} with {{Differentiator}}. {{CTA}}.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06640" y="384048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VARIABLES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06640" y="4160520"/>
            <a:ext cx="38221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AQI-managed · RERA-ready · designer interiors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site visit · Request floor plans · Enquire now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emit an empty description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 · DETAIL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Graph &amp; Preview Cards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9377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875">
            <a:solidFill>
              <a:srgbClr val="E4E0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4937760" cy="2331720"/>
          </a:xfrm>
          <a:prstGeom prst="roundRect">
            <a:avLst>
              <a:gd name="adj" fmla="val 3922"/>
            </a:avLst>
          </a:prstGeom>
          <a:solidFill>
            <a:srgbClr val="0E111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6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× 630  ·  og:image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FABLUXE.CO.IN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Apartments in Greater Noida West | Fab Luxe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47365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AQI-managed 3 &amp; 4 BHK luxury residences with bespoke interiors. Book a private site visit.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55448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DIMENSIONS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5513832" cy="566928"/>
          </a:xfrm>
          <a:prstGeom prst="rect">
            <a:avLst/>
          </a:prstGeom>
          <a:solidFill>
            <a:srgbClr val="F3F1E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965960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master (FB / LinkedIn / WhatsApp)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34272" y="19659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6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1200 × 630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34472" y="19659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1.91:1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532888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feed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34272" y="25328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6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1080 × 1350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34472" y="253288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099816"/>
            <a:ext cx="5513832" cy="566928"/>
          </a:xfrm>
          <a:prstGeom prst="rect">
            <a:avLst/>
          </a:prstGeom>
          <a:solidFill>
            <a:srgbClr val="F3F1E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099816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/ Reels / Shorts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34272" y="30998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6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1080 × 1920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34472" y="30998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666744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 pin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34272" y="36667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6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× 1500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34472" y="366674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4233672"/>
            <a:ext cx="5513832" cy="566928"/>
          </a:xfrm>
          <a:prstGeom prst="rect">
            <a:avLst/>
          </a:prstGeom>
          <a:solidFill>
            <a:srgbClr val="F3F1EA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4233672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thumbnail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34272" y="423367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6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1280 × 720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34472" y="423367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5029200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WhatsApp OG image under 300 KB or the thumbnail is skipped. Verify every launch in the FB &amp; LinkedIn debuggers.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 · DETAIL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 (JSON-LD)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71516" cy="1874520"/>
          </a:xfrm>
          <a:prstGeom prst="roundRect">
            <a:avLst>
              <a:gd name="adj" fmla="val 3902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111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181051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RealEstateListing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157984"/>
            <a:ext cx="4082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57860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SingleFamilyResidence: rooms, floor size, geo, amenities, offer.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7356" y="1554480"/>
            <a:ext cx="5271516" cy="1874520"/>
          </a:xfrm>
          <a:prstGeom prst="roundRect">
            <a:avLst>
              <a:gd name="adj" fmla="val 3902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51676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1116"/>
          </a:solidFill>
          <a:ln/>
        </p:spPr>
      </p:sp>
      <p:sp>
        <p:nvSpPr>
          <p:cNvPr id="13" name="Text 11"/>
          <p:cNvSpPr/>
          <p:nvPr/>
        </p:nvSpPr>
        <p:spPr>
          <a:xfrm>
            <a:off x="655167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37476" y="181051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HomeAndConstructionBusiness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37476" y="2157984"/>
            <a:ext cx="4082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EXECUTION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51676" y="257860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LocalBusiness subtype: NAP, hours, areaServed, service catalog.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5271516" cy="1874520"/>
          </a:xfrm>
          <a:prstGeom prst="roundRect">
            <a:avLst>
              <a:gd name="adj" fmla="val 3902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023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111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400507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FAQPage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0200" y="4352544"/>
            <a:ext cx="4082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77316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AQI, RERA, interiors, booking — visible on-page only.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7356" y="3749040"/>
            <a:ext cx="5271516" cy="1874520"/>
          </a:xfrm>
          <a:prstGeom prst="roundRect">
            <a:avLst>
              <a:gd name="adj" fmla="val 3902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51676" y="4023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1116"/>
          </a:solidFill>
          <a:ln/>
        </p:spPr>
      </p:sp>
      <p:sp>
        <p:nvSpPr>
          <p:cNvPr id="25" name="Text 23"/>
          <p:cNvSpPr/>
          <p:nvPr/>
        </p:nvSpPr>
        <p:spPr>
          <a:xfrm>
            <a:off x="655167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37476" y="400507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 + WebSite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37476" y="4352544"/>
            <a:ext cx="4082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51676" y="477316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sameAs social bridge — powers the Knowledge Panel.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block:  </a:t>
            </a:r>
            <a:pPr algn="ctr"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Results Test  ·  Schema Markup Validator  ·  mark up only visible content.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 · DETAIL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392424" cy="3246120"/>
          </a:xfrm>
          <a:prstGeom prst="roundRect">
            <a:avLst>
              <a:gd name="adj" fmla="val 2254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141A22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Canonical Domain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2752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HTTPS + non-www via 301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Self-referential canonical tag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utm / gclid / fbclid params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8264" y="1554480"/>
            <a:ext cx="3392424" cy="3246120"/>
          </a:xfrm>
          <a:prstGeom prst="roundRect">
            <a:avLst>
              <a:gd name="adj" fmla="val 2254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1828800"/>
            <a:ext cx="457200" cy="457200"/>
          </a:xfrm>
          <a:prstGeom prst="ellipse">
            <a:avLst/>
          </a:prstGeom>
          <a:solidFill>
            <a:srgbClr val="141A22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12664" y="18288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robots.txt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64024" y="2514600"/>
            <a:ext cx="2752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reputable crawlers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/admin, /staging, /checkout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sitemap index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6448" y="1554480"/>
            <a:ext cx="3392424" cy="3246120"/>
          </a:xfrm>
          <a:prstGeom prst="roundRect">
            <a:avLst>
              <a:gd name="adj" fmla="val 2254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1828800"/>
            <a:ext cx="457200" cy="457200"/>
          </a:xfrm>
          <a:prstGeom prst="ellipse">
            <a:avLst/>
          </a:prstGeom>
          <a:solidFill>
            <a:srgbClr val="141A22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70848" y="18288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Sitemaps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22208" y="2514600"/>
            <a:ext cx="2752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 pages + listings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lastmod dates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in Search Console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262E3A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5330952"/>
            <a:ext cx="365760" cy="36576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5074920"/>
            <a:ext cx="9720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Disallow blocks crawling, not indexing. To keep a page out of the index, allow crawl and use a noindex meta tag instead.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Web Vitals Blueprint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2.5s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Contentful Paint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98264" y="155448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2584" y="173736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98264" y="2011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200ms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672584" y="292608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to Next Paint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6448" y="155448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173736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56448" y="2011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0.1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30768" y="292608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Layout Shift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3F1EA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98448" y="3657600"/>
            <a:ext cx="4494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AVIF/WebP hero, sized via srcset; fetchpriority=high; never lazy-load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23076" y="3703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3F1EA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3076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81444" y="3657600"/>
            <a:ext cx="4494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 hero, preconnect to CDN/fonts, self-host fonts with font-display:swap.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3F1EA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98448" y="4709160"/>
            <a:ext cx="4494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+ height (or aspect-ratio) on every image, video, iframe &amp; embed.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23076" y="4754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3F1EA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3076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81444" y="4709160"/>
            <a:ext cx="4494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 below-fold gallery; load 3D tours via click-to-open facade.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 PageSpeed Insights (field) + Lighthouse CI (lab), gate regressions in the pipeline.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04 · DETAIL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 Distribution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847088"/>
            <a:ext cx="548640" cy="54864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865376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&amp; Pinterest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231136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AESTHETICS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651760"/>
            <a:ext cx="4686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renders, site progress, AQI features, material textures. Geo-tag every post; Rich Pins 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7356" y="155448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69964" y="18470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69964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83196" y="1865376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3196" y="2231136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AUTHORITY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69964" y="2651760"/>
            <a:ext cx="4686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Architects, designers, investors &amp; HNIs. Thought-leadership, project showcases, lead-gen forms.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" y="413308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4151376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4517136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TRUST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4937760"/>
            <a:ext cx="4686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walkthroughs with chaptered, keyword-first descriptions and hashtag clusters.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7356" y="384048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69964" y="413308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6569964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83196" y="4151376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Reels &amp; Shorts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83196" y="4517136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69964" y="4937760"/>
            <a:ext cx="4686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9:16, hook in 2 seconds, on-screen captions always, 3–5 hashtags max.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Pillars &amp; Effort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463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Renders</a:t>
            </a:r>
            <a:endParaRPr lang="en-US" sz="14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Carousels &amp; vertical pins per room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Progress</a:t>
            </a:r>
            <a:endParaRPr lang="en-US" sz="14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reels &amp; construction updates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264408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3200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&amp; Wellness</a:t>
            </a:r>
            <a:endParaRPr lang="en-US" sz="14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 reels + infographics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133088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4069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Textures</a:t>
            </a:r>
            <a:endParaRPr lang="en-US" sz="14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Marble, veneer &amp; brass close-ups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001768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01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4937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 &amp; Lifestyle</a:t>
            </a:r>
            <a:endParaRPr lang="en-US" sz="14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Golden-hour clubhouse &amp; pool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ALLOCATION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0" y="1783080"/>
          <a:ext cx="4663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IT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Validation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766560" cy="932688"/>
          </a:xfrm>
          <a:prstGeom prst="roundRect">
            <a:avLst>
              <a:gd name="adj" fmla="val 6863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746504"/>
            <a:ext cx="457200" cy="457200"/>
          </a:xfrm>
          <a:prstGeom prst="ellipse">
            <a:avLst/>
          </a:prstGeom>
          <a:solidFill>
            <a:srgbClr val="141A22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crawl files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reachable, no site-wide Disallow; sitemap is well-formed XML with a valid index.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6766560" cy="932688"/>
          </a:xfrm>
          <a:prstGeom prst="roundRect">
            <a:avLst>
              <a:gd name="adj" fmla="val 6863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788920"/>
            <a:ext cx="457200" cy="457200"/>
          </a:xfrm>
          <a:prstGeom prst="ellipse">
            <a:avLst/>
          </a:prstGeom>
          <a:solidFill>
            <a:srgbClr val="141A22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2642616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tags per page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og:title, og:image, og:url, canonical &amp; twitter:card exist on every template.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593592"/>
            <a:ext cx="6766560" cy="932688"/>
          </a:xfrm>
          <a:prstGeom prst="roundRect">
            <a:avLst>
              <a:gd name="adj" fmla="val 6863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831336"/>
            <a:ext cx="457200" cy="457200"/>
          </a:xfrm>
          <a:prstGeom prst="ellipse">
            <a:avLst/>
          </a:prstGeom>
          <a:solidFill>
            <a:srgbClr val="141A22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68503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JSON-LD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each ld+json block and parse it — fail the build on any malformed schema.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636008"/>
            <a:ext cx="6766560" cy="932688"/>
          </a:xfrm>
          <a:prstGeom prst="roundRect">
            <a:avLst>
              <a:gd name="adj" fmla="val 6863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4873752"/>
            <a:ext cx="457200" cy="457200"/>
          </a:xfrm>
          <a:prstGeom prst="ellipse">
            <a:avLst/>
          </a:prstGeom>
          <a:solidFill>
            <a:srgbClr val="141A22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4727448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in CI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seo-validate on every push + weekly cron; block merges when checks fail.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772400" y="1508760"/>
            <a:ext cx="3776472" cy="4160520"/>
          </a:xfrm>
          <a:prstGeom prst="roundRect">
            <a:avLst>
              <a:gd name="adj" fmla="val 1937"/>
            </a:avLst>
          </a:prstGeom>
          <a:solidFill>
            <a:srgbClr val="060809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0" y="1737360"/>
            <a:ext cx="146304" cy="146304"/>
          </a:xfrm>
          <a:prstGeom prst="ellipse">
            <a:avLst/>
          </a:prstGeom>
          <a:solidFill>
            <a:srgbClr val="E06C5E"/>
          </a:solidFill>
          <a:ln/>
        </p:spPr>
      </p:sp>
      <p:sp>
        <p:nvSpPr>
          <p:cNvPr id="23" name="Shape 21"/>
          <p:cNvSpPr/>
          <p:nvPr/>
        </p:nvSpPr>
        <p:spPr>
          <a:xfrm>
            <a:off x="8275320" y="1737360"/>
            <a:ext cx="146304" cy="146304"/>
          </a:xfrm>
          <a:prstGeom prst="ellipse">
            <a:avLst/>
          </a:prstGeom>
          <a:solidFill>
            <a:srgbClr val="E3C892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1737360"/>
            <a:ext cx="146304" cy="146304"/>
          </a:xfrm>
          <a:prstGeom prst="ellipse">
            <a:avLst/>
          </a:prstGeom>
          <a:solidFill>
            <a:srgbClr val="7FB77E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2148840"/>
            <a:ext cx="32278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C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./seo-validate.sh \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C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https://fabluxe.co.in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FB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robots.txt  sitemap OK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FB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og + canonical  5/5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FB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JSON-LD valid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5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CHECKS PASSED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+ PowerShell scripts and a GitHub Actions workflow ship with this plan.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&amp; Success Metrics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73936"/>
            <a:ext cx="2691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clicks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non-brand impressions &amp; clicks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3024" y="155448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7344" y="182880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2" name="Text 10"/>
          <p:cNvSpPr/>
          <p:nvPr/>
        </p:nvSpPr>
        <p:spPr>
          <a:xfrm>
            <a:off x="4885944" y="1773936"/>
            <a:ext cx="2691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TRACKER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7344" y="21945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rankings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57344" y="2651760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for priority Greater Noida terms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5968" y="155448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0288" y="182880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7" name="Text 15"/>
          <p:cNvSpPr/>
          <p:nvPr/>
        </p:nvSpPr>
        <p:spPr>
          <a:xfrm>
            <a:off x="8628888" y="1773936"/>
            <a:ext cx="2691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ENHANCEMENTS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00288" y="21945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Rich-result coverage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00288" y="2651760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+ listing eligibility, zero errors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397764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3922776"/>
            <a:ext cx="2691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3434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referral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4400" y="4800600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leads from IG / LinkedIn / YouTube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3024" y="370332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57344" y="397764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7" name="Text 25"/>
          <p:cNvSpPr/>
          <p:nvPr/>
        </p:nvSpPr>
        <p:spPr>
          <a:xfrm>
            <a:off x="4885944" y="3922776"/>
            <a:ext cx="2691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CRUX / PSI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57344" y="43434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Web Vitals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657344" y="4800600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URLs passing all three at p75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25968" y="370332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00288" y="397764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2" name="Text 30"/>
          <p:cNvSpPr/>
          <p:nvPr/>
        </p:nvSpPr>
        <p:spPr>
          <a:xfrm>
            <a:off x="8628888" y="3922776"/>
            <a:ext cx="2691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00288" y="43434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enquiries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400288" y="4800600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site-visit bookings per month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65760"/>
            <a:ext cx="493776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4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Checklist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canonical origin enforced via 301s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21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6A15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176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title, description &amp; OG image per template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6A1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8895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JSON-LD types live and validated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6027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+ sitemap submitted in Search Console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6A15B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1463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previews verified on FB, LinkedIn, WhatsApp, X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221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6A15B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2176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/ INP / CLS passing on key mobile pages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29352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6A15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0" y="28895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sameAs URLs matched exactly across channels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36484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6A15B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0" y="36027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seo-validate passing in CI before launch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663440"/>
            <a:ext cx="10881360" cy="0"/>
          </a:xfrm>
          <a:prstGeom prst="line">
            <a:avLst/>
          </a:prstGeom>
          <a:noFill/>
          <a:ln w="12700">
            <a:solidFill>
              <a:srgbClr val="262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placeholder filled. Every check green. Then push for visibility.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note: 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valid UP-RERA number + disclaimer on every project page; keep schema pricing/area RERA-accurate.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fabluxe.co.in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-365760"/>
            <a:ext cx="4572000" cy="7589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4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Automation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WhatsApp, Facebook, Instagram, Threads &amp; more into one system that publishes content, captures leads, and runs ads — mostly on autopilot.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9525">
            <a:solidFill>
              <a:srgbClr val="C6A1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6634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20824" y="466344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9525">
            <a:solidFill>
              <a:srgbClr val="C6A1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0824" y="46634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1568" y="466344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9525">
            <a:solidFill>
              <a:srgbClr val="C6A1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46634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Zapier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4663440"/>
            <a:ext cx="1824228" cy="45720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9525">
            <a:solidFill>
              <a:srgbClr val="C6A1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4663440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Automation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Connects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6192" y="2212848"/>
            <a:ext cx="585216" cy="58521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7" name="Text 5"/>
          <p:cNvSpPr/>
          <p:nvPr/>
        </p:nvSpPr>
        <p:spPr>
          <a:xfrm>
            <a:off x="1536192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Hub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· reels · site progress · AQI stories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54096" y="27889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74720" y="196596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2212848"/>
            <a:ext cx="585216" cy="58521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· Instagram · Threads · YouTube · Pinterest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88736" y="27889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05472" y="2212848"/>
            <a:ext cx="585216" cy="58521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9" name="Text 17"/>
          <p:cNvSpPr/>
          <p:nvPr/>
        </p:nvSpPr>
        <p:spPr>
          <a:xfrm>
            <a:off x="7205472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9224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3429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Meta Lead Ads · website forms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23376" y="27889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144000" y="196596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40112" y="2212848"/>
            <a:ext cx="585216" cy="5852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5" name="Text 23"/>
          <p:cNvSpPr/>
          <p:nvPr/>
        </p:nvSpPr>
        <p:spPr>
          <a:xfrm>
            <a:off x="10040112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2688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→ CRM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372600" y="3429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Zapier wires it all together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5840" y="470916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Speed-to-lead: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luxury enquiry answered in under 5 minutes, 24/7 — then nurtured and retargeted back into the funnel.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FIRST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0876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Business Manager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master account that owns every asset below. Create them here, not as loose personal accounts.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83464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76148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Page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21868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home + ad-delivery surface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98264" y="256032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2584" y="283464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276148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Business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72584" y="321868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the Page; publishing + ads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6448" y="256032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0768" y="283464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7" name="Text 15"/>
          <p:cNvSpPr/>
          <p:nvPr/>
        </p:nvSpPr>
        <p:spPr>
          <a:xfrm>
            <a:off x="8659368" y="276148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IG login; text-first reach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52628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45312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91032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Auto-replies, broadcasts, catalog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98264" y="425196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72584" y="452628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5" name="Text 23"/>
          <p:cNvSpPr/>
          <p:nvPr/>
        </p:nvSpPr>
        <p:spPr>
          <a:xfrm>
            <a:off x="4901184" y="445312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Manager + Pixel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72584" y="491032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ads; track visitors via CAPI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56448" y="425196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30768" y="452628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9" name="Text 27"/>
          <p:cNvSpPr/>
          <p:nvPr/>
        </p:nvSpPr>
        <p:spPr>
          <a:xfrm>
            <a:off x="8659368" y="445312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Domain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430768" y="491032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listing ads; link control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FOCUS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— #1 to Convert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25796" cy="2788920"/>
          </a:xfrm>
          <a:prstGeom prst="roundRect">
            <a:avLst>
              <a:gd name="adj" fmla="val 2623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4585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SCALE · ONE PERSON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4942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~50 chats a day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quick replies &amp; away msg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capped broadcasts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but no real automation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3076" y="1554480"/>
            <a:ext cx="5225796" cy="2788920"/>
          </a:xfrm>
          <a:prstGeom prst="roundRect">
            <a:avLst>
              <a:gd name="adj" fmla="val 2623"/>
            </a:avLst>
          </a:prstGeom>
          <a:solidFill>
            <a:srgbClr val="262E3A"/>
          </a:solidFill>
          <a:ln w="19050">
            <a:solidFill>
              <a:srgbClr val="C6A15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11512" y="17373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9811512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43116" y="1783080"/>
            <a:ext cx="33055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Platform (API)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43116" y="2194560"/>
            <a:ext cx="4585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· TEAM · AUTOMATION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88836" y="2606040"/>
            <a:ext cx="44942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Auto-replies, drips &amp; chatbots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broadcasts to opted-in lists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Click-to-WhatsApp ads supported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to CRM + your automation engine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0916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 </a:t>
            </a:r>
            <a:pPr indent="0" marL="0">
              <a:buNone/>
            </a:pPr>
            <a:r>
              <a:rPr lang="en-US" sz="12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Cloud API</a:t>
            </a:r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a BSP:  </a:t>
            </a:r>
            <a:pPr indent="0" marL="0">
              <a:buNone/>
            </a:pPr>
            <a:r>
              <a:rPr lang="en-US" sz="12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AiSensy · Wati · Interakt · Gupshup.</a:t>
            </a:r>
            <a:pPr indent="0" marL="0">
              <a:buNone/>
            </a:pPr>
            <a:r>
              <a:rPr lang="en-US" sz="125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24-hour rule: 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5120640"/>
            <a:ext cx="10177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24h of a user's last message, you may send only Meta-approved templates — and only to opted-in contacts.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MAP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Platform Does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48640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69164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4320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&amp; nurture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224028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/ BSP · templates · catalog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10908792" cy="548640"/>
          </a:xfrm>
          <a:prstGeom prst="rect">
            <a:avLst/>
          </a:prstGeom>
          <a:solidFill>
            <a:srgbClr val="F3F1E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+ lead ads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0" y="278892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· Lead Ads · Pixel / CAPI · catalog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brand + Reels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0" y="333756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account · Publishing API · DM automation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10908792" cy="548640"/>
          </a:xfrm>
          <a:prstGeom prst="rect">
            <a:avLst/>
          </a:prstGeom>
          <a:solidFill>
            <a:srgbClr val="F3F1E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86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74320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Text-first commentary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0" y="388620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API · cross-post from Instagram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743200" y="4434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trust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0" y="443484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 · walkthrough video SEO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983480"/>
            <a:ext cx="10908792" cy="548640"/>
          </a:xfrm>
          <a:prstGeom prst="rect">
            <a:avLst/>
          </a:prstGeom>
          <a:solidFill>
            <a:srgbClr val="F3F1E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983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743200" y="4983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visual search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0" y="498348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 API · auto-pin new renders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5532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743200" y="5532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architects &amp; HNIs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43600" y="553212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Page API · thought leadership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APPROACHES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Automate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487168" cy="352044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78308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Suite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21284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96112" y="257860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27797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315468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335584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373075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96112" y="3931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+ IG scheduling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430682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96112" y="45079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WhatsApp / CRM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47288" y="1554480"/>
            <a:ext cx="2487168" cy="352044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03320" y="178308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Zapier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703320" y="221284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CLOUD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03320" y="257860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03320" y="27797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315468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03320" y="335584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373075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03320" y="3931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no-code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03320" y="430682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03320" y="45079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Pricey at volume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54496" y="1554480"/>
            <a:ext cx="2487168" cy="352044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0528" y="178308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510528" y="221284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CLOUD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0528" y="257860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10528" y="27797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10528" y="315468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10528" y="335584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10528" y="373075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510528" y="3931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Cheaper, more logic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10528" y="430682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10528" y="45079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learning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61704" y="1554480"/>
            <a:ext cx="2487168" cy="3520440"/>
          </a:xfrm>
          <a:prstGeom prst="roundRect">
            <a:avLst>
              <a:gd name="adj" fmla="val 2941"/>
            </a:avLst>
          </a:prstGeom>
          <a:solidFill>
            <a:srgbClr val="0E1116"/>
          </a:solidFill>
          <a:ln w="19050">
            <a:solidFill>
              <a:srgbClr val="C6A15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317736" y="178308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9317736" y="221284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317736" y="257860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317736" y="27797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Free*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317736" y="315468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317736" y="335584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317736" y="373075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317736" y="3931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data + scale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317736" y="430682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317736" y="45079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developer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525780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" y="525780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fast: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developer, launch this week →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Have a developer, want to own your data →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Multi-channel publishing incl. Threads → a scheduler like Metricool.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Automations to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810512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8288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Speed-to-Lead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Lead Ad → instant WhatsApp + CRM + advisor alert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288036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8036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/ n8n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98264" y="155448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54296" y="1810512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75504" y="18288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Enquiry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72584" y="233172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 → auto WhatsApp reply + Sheet + team ping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72584" y="2880360"/>
            <a:ext cx="617220" cy="310896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/>
        </p:spPr>
      </p:sp>
      <p:sp>
        <p:nvSpPr>
          <p:cNvPr id="18" name="Text 16"/>
          <p:cNvSpPr/>
          <p:nvPr/>
        </p:nvSpPr>
        <p:spPr>
          <a:xfrm>
            <a:off x="4672584" y="2880360"/>
            <a:ext cx="61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56448" y="155448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0" y="1810512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33688" y="18288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Once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30768" y="233172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 → FB, IG, Threads, LinkedIn &amp; Pinterest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30768" y="2880360"/>
            <a:ext cx="1549908" cy="310896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/>
        </p:spPr>
      </p:sp>
      <p:sp>
        <p:nvSpPr>
          <p:cNvPr id="25" name="Text 23"/>
          <p:cNvSpPr/>
          <p:nvPr/>
        </p:nvSpPr>
        <p:spPr>
          <a:xfrm>
            <a:off x="8430768" y="2880360"/>
            <a:ext cx="1549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Metricool / n8n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370332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6112" y="3959352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3977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Blast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48056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YouTube video → cross-post + WhatsApp broadcast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502920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0292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98264" y="370332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54296" y="3959352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35" name="Text 33"/>
          <p:cNvSpPr/>
          <p:nvPr/>
        </p:nvSpPr>
        <p:spPr>
          <a:xfrm>
            <a:off x="4654296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75504" y="3977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Reminders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72584" y="448056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→ confirm + 24h + 2h WhatsApp drip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72584" y="5029200"/>
            <a:ext cx="617220" cy="310896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/>
        </p:spPr>
      </p:sp>
      <p:sp>
        <p:nvSpPr>
          <p:cNvPr id="39" name="Text 37"/>
          <p:cNvSpPr/>
          <p:nvPr/>
        </p:nvSpPr>
        <p:spPr>
          <a:xfrm>
            <a:off x="4672584" y="5029200"/>
            <a:ext cx="61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56448" y="370332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412480" y="3959352"/>
            <a:ext cx="402336" cy="40233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933688" y="3977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Engine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30768" y="448056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done → next-day Google review request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430768" y="502920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/>
        </p:spPr>
      </p:sp>
      <p:sp>
        <p:nvSpPr>
          <p:cNvPr id="46" name="Text 44"/>
          <p:cNvSpPr/>
          <p:nvPr/>
        </p:nvSpPr>
        <p:spPr>
          <a:xfrm>
            <a:off x="8430768" y="50292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PROMOTION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Advertising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6400800" cy="749808"/>
          </a:xfrm>
          <a:prstGeom prst="roundRect">
            <a:avLst>
              <a:gd name="adj" fmla="val 8537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4592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  </a:t>
            </a:r>
            <a:pPr algn="ctr"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&amp; video views · broad NCR + NRI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2505456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505456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   </a:t>
            </a:r>
            <a:pPr algn="ctr"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to walkthroughs &amp; listings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3080" y="3364992"/>
            <a:ext cx="4389120" cy="749808"/>
          </a:xfrm>
          <a:prstGeom prst="roundRect">
            <a:avLst>
              <a:gd name="adj" fmla="val 8537"/>
            </a:avLst>
          </a:prstGeom>
          <a:solidFill>
            <a:srgbClr val="C6A15B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336499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  </a:t>
            </a:r>
            <a:pPr algn="ctr" indent="0" marL="0">
              <a:buNone/>
            </a:pPr>
            <a:r>
              <a:rPr lang="en-US" sz="11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Ads + Click-to-WhatsApp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4224528"/>
            <a:ext cx="3383280" cy="749808"/>
          </a:xfrm>
          <a:prstGeom prst="roundRect">
            <a:avLst>
              <a:gd name="adj" fmla="val 8537"/>
            </a:avLst>
          </a:prstGeom>
          <a:solidFill>
            <a:srgbClr val="262E3A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422452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  </a:t>
            </a:r>
            <a:pPr algn="ctr"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visitors · viewers · lookalikes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35240" y="1645920"/>
            <a:ext cx="3913632" cy="3346704"/>
          </a:xfrm>
          <a:prstGeom prst="roundRect">
            <a:avLst>
              <a:gd name="adj" fmla="val 2186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09560" y="182880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240280"/>
            <a:ext cx="32735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Pixel + Conversions API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+ Lookalike audiences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catalog → dynamic ads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Click-to-WhatsApp = top format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note: 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isn't a Meta 'Special Ad Category' here — but follow ad policy and keep every price / possession claim RERA-accurate.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ON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Must Enable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75564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Identity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2128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212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217627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Manager created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25328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249631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+ IG + Threads linked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28529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85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281635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domain verified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31729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172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313639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claimed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155448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97396" y="175564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97396" y="22128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22" name="Text 20"/>
          <p:cNvSpPr/>
          <p:nvPr/>
        </p:nvSpPr>
        <p:spPr>
          <a:xfrm>
            <a:off x="6597396" y="2212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63156" y="217627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App vs API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97396" y="25328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97396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63156" y="249631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+ display name set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97396" y="28529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28" name="Text 26"/>
          <p:cNvSpPr/>
          <p:nvPr/>
        </p:nvSpPr>
        <p:spPr>
          <a:xfrm>
            <a:off x="6597396" y="285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63156" y="281635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templates approved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97396" y="31729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31" name="Text 29"/>
          <p:cNvSpPr/>
          <p:nvPr/>
        </p:nvSpPr>
        <p:spPr>
          <a:xfrm>
            <a:off x="6597396" y="3172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63156" y="313639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mechanism live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37947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60120" y="399592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 &amp; Tracking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960120" y="44531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25880" y="441655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payment method added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60120" y="47731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" y="4773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25880" y="473659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installed site-wide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60120" y="50932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" y="5093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325880" y="505663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API configured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60120" y="54132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45" name="Text 43"/>
          <p:cNvSpPr/>
          <p:nvPr/>
        </p:nvSpPr>
        <p:spPr>
          <a:xfrm>
            <a:off x="960120" y="5413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325880" y="537667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audiences built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77356" y="37947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597396" y="399592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&amp; Compliance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6597396" y="44531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50" name="Text 48"/>
          <p:cNvSpPr/>
          <p:nvPr/>
        </p:nvSpPr>
        <p:spPr>
          <a:xfrm>
            <a:off x="6597396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63156" y="441655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n8n / Zapier / Make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597396" y="47731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53" name="Text 51"/>
          <p:cNvSpPr/>
          <p:nvPr/>
        </p:nvSpPr>
        <p:spPr>
          <a:xfrm>
            <a:off x="6597396" y="4773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63156" y="473659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tokens generated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597396" y="50932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56" name="Text 54"/>
          <p:cNvSpPr/>
          <p:nvPr/>
        </p:nvSpPr>
        <p:spPr>
          <a:xfrm>
            <a:off x="6597396" y="5093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63156" y="505663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connected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597396" y="54132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6A15B"/>
          </a:solidFill>
          <a:ln/>
        </p:spPr>
      </p:sp>
      <p:sp>
        <p:nvSpPr>
          <p:cNvPr id="59" name="Text 57"/>
          <p:cNvSpPr/>
          <p:nvPr/>
        </p:nvSpPr>
        <p:spPr>
          <a:xfrm>
            <a:off x="6597396" y="5413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63156" y="537667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+ DLT (for SMS)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54864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14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32688" y="210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&amp; Recommended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402336" cy="40233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453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  </a:t>
            </a:r>
            <a:pPr indent="0" marL="0">
              <a:buNone/>
            </a:pPr>
            <a:r>
              <a:rPr lang="en-US" sz="110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764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linked, Pixel, WhatsApp number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402336" cy="40233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1396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automation   </a:t>
            </a:r>
            <a:pPr indent="0" marL="0">
              <a:buNone/>
            </a:pPr>
            <a:r>
              <a:rPr lang="en-US" sz="110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once → everywhere incl. Threads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07792"/>
            <a:ext cx="402336" cy="40233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28254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automation   </a:t>
            </a:r>
            <a:pPr indent="0" marL="0">
              <a:buNone/>
            </a:pPr>
            <a:r>
              <a:rPr lang="en-US" sz="110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3–5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136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 + speed-to-lead flows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93592"/>
            <a:ext cx="402336" cy="40233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35112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promotion   </a:t>
            </a:r>
            <a:pPr indent="0" marL="0">
              <a:buNone/>
            </a:pPr>
            <a:r>
              <a:rPr lang="en-US" sz="110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5–7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Click-to-WhatsApp ads + retargeting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79392"/>
            <a:ext cx="402336" cy="40233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41970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  </a:t>
            </a:r>
            <a:pPr indent="0" marL="0">
              <a:buNone/>
            </a:pPr>
            <a:r>
              <a:rPr lang="en-US" sz="110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4507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cost-per-lead, scale what works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1508760"/>
            <a:ext cx="5010912" cy="3337560"/>
          </a:xfrm>
          <a:prstGeom prst="roundRect">
            <a:avLst>
              <a:gd name="adj" fmla="val 2192"/>
            </a:avLst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173736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12480" y="21945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(self-host) or Zapier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0" y="27066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12480" y="2706624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BSP — AiSensy / Interakt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58000" y="3218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12480" y="321868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Metricool (all channels + Threads)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58000" y="37307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412480" y="373075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→ HubSpot / Zoho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858000" y="42428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412480" y="424281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+ Pixel + CAPI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5166360"/>
            <a:ext cx="10908792" cy="0"/>
          </a:xfrm>
          <a:prstGeom prst="line">
            <a:avLst/>
          </a:prstGeom>
          <a:noFill/>
          <a:ln w="12700">
            <a:solidFill>
              <a:srgbClr val="262E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Fastest path this month:  </a:t>
            </a:r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API + Click-to-WhatsApp ads + Publish-once automation.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 Luxe — SEO &amp; Social Media Strategy</dc:title>
  <dc:subject>PptxGenJS Presentation</dc:subject>
  <dc:creator>Fab Luxe</dc:creator>
  <cp:lastModifiedBy>Fab Luxe</cp:lastModifiedBy>
  <cp:revision>1</cp:revision>
  <dcterms:created xsi:type="dcterms:W3CDTF">2026-07-30T12:00:14Z</dcterms:created>
  <dcterms:modified xsi:type="dcterms:W3CDTF">2026-07-30T12:00:14Z</dcterms:modified>
</cp:coreProperties>
</file>