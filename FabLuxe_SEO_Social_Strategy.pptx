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Effort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6A15B"/>
              </a:solidFill>
              <a:effectLst/>
            </c:spPr>
          </c:dPt>
          <c:dPt>
            <c:idx val="1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bubble3D val="0"/>
            <c:spPr>
              <a:solidFill>
                <a:srgbClr val="B85042"/>
              </a:solidFill>
              <a:effectLst/>
            </c:spPr>
          </c:dPt>
          <c:dPt>
            <c:idx val="3"/>
            <c:bubble3D val="0"/>
            <c:spPr>
              <a:solidFill>
                <a:srgbClr val="2C5F2D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&quot;%&quot;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Social Content</c:v>
                </c:pt>
                <c:pt idx="1">
                  <c:v>Technical SEO</c:v>
                </c:pt>
                <c:pt idx="2">
                  <c:v>Performance</c:v>
                </c:pt>
                <c:pt idx="3">
                  <c:v>Structured Data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35</c:v>
                </c:pt>
                <c:pt idx="1">
                  <c:v>30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A1E24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Fab Luxe SEO &amp; Social Media strategy and architecture for fabluxe.co.in. Four workstreams: technical SEO, structured data, social distribution, performance.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 and objectives. Four goals: local intent, rich results, social CTR, HNI lead conversion. Footprint: 5 templates, 4 schema types, 5 channels. Priority keywords listed.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Architecture: four dependent layers. Foundation and crawl control at the base, then content and metadata, then structured data, then social distribution. Build bottom-up.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in four phases: Foundation (wk1-2), Metadata (wk2-3), Schema and Speed (wk3-5), Distribution (ongoing). Milestone gate: CI validation and rich results before launch.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On-page metadata detail. SERP preview mock at left with the pixel and uniqueness rules. Right shows the dynamic title/description template with rotating differentiators and CTAs plus a fallback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Graph and preview cards. Left: a share-card mock at 1200x630. Right: the per-platform dimension table. Rule: WhatsApp OG under 300KB, verify in debuggers.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Structured data: four JSON-LD types mapped to page types. RealEstateListing on properties, HomeAndConstructionBusiness on interiors, FAQPage for questions, Organization+WebSite on homepage. Validate all; only mark up visible content.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Indexing architecture: canonical domain, robots.txt, XML sitemaps. Critical caveat: Disallow blocks crawling not indexing; use noindex meta to de-index.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Web Vitals targets: LCP &lt;=2.5s, INP &lt;=200ms, CLS &lt;=0.1. Checklist covers hero image handling, dimensions on all media, lazy-loading and 3D-tour facades. Measure via PageSpeed and Lighthouse 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Distribution matrix across four channels: Instagram/Pinterest for visuals, LinkedIn for B2B authority, YouTube for search and trust, Reels/Shorts for reach. Each with role and tactics.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content pillars: 3D renders, site progress, AQI and wellness, material textures, amenities and lifestyle. Effort allocation doughnut: social content 35%, technical SEO 30%, performance 20%, structured data 15%.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Execution workflow: validate crawl files, check meta/OG/canonical tags per page, verify JSON-LD parses, and gate everything in CI on push plus a weekly cron. Bash, PowerShell and GitHub Actions provided.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KPIs across the funnel: organic clicks, keyword rankings, rich-result coverage, social referral, Core Web Vitals pass rate, and qualified lead enquiries — each with its data 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Launch checklist across two columns and the RERA compliance reminder. Close: fill every placeholder, pass every check, then push for visibility.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-548640"/>
            <a:ext cx="5120640" cy="76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0" b="1" dirty="0">
                <a:solidFill>
                  <a:srgbClr val="1E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</a:t>
            </a:r>
            <a:endParaRPr lang="en-US" sz="320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LUXURY REAL ESTATE  ·  INTERIOR EXECUTION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SEO &amp; Social Media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40080" y="28803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Strategy &amp; Architecture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640080" y="397764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production-ready plan, system architecture, and step-by-step execution blueprint for fabluxe.co.in — Greater Noida West.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074920"/>
            <a:ext cx="1667866" cy="457200"/>
          </a:xfrm>
          <a:prstGeom prst="roundRect">
            <a:avLst>
              <a:gd name="adj" fmla="val 50000"/>
            </a:avLst>
          </a:prstGeom>
          <a:solidFill>
            <a:srgbClr val="1E2530"/>
          </a:solidFill>
          <a:ln w="9525">
            <a:solidFill>
              <a:srgbClr val="C6A15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5074920"/>
            <a:ext cx="16678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SEO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536546" y="5074920"/>
            <a:ext cx="1865376" cy="457200"/>
          </a:xfrm>
          <a:prstGeom prst="roundRect">
            <a:avLst>
              <a:gd name="adj" fmla="val 50000"/>
            </a:avLst>
          </a:prstGeom>
          <a:solidFill>
            <a:srgbClr val="1E2530"/>
          </a:solidFill>
          <a:ln w="9525">
            <a:solidFill>
              <a:srgbClr val="C6A1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36546" y="507492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Data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30522" y="5074920"/>
            <a:ext cx="2260397" cy="457200"/>
          </a:xfrm>
          <a:prstGeom prst="roundRect">
            <a:avLst>
              <a:gd name="adj" fmla="val 50000"/>
            </a:avLst>
          </a:prstGeom>
          <a:solidFill>
            <a:srgbClr val="1E2530"/>
          </a:solidFill>
          <a:ln w="9525">
            <a:solidFill>
              <a:srgbClr val="C6A15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30522" y="5074920"/>
            <a:ext cx="226039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Distribution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119518" y="5074920"/>
            <a:ext cx="1470355" cy="457200"/>
          </a:xfrm>
          <a:prstGeom prst="roundRect">
            <a:avLst>
              <a:gd name="adj" fmla="val 50000"/>
            </a:avLst>
          </a:prstGeom>
          <a:solidFill>
            <a:srgbClr val="1E2530"/>
          </a:solidFill>
          <a:ln w="9525">
            <a:solidFill>
              <a:srgbClr val="C6A1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19518" y="5074920"/>
            <a:ext cx="1470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30 Jul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&amp; Objectives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457200" cy="457200"/>
          </a:xfrm>
          <a:prstGeom prst="ellipse">
            <a:avLst/>
          </a:prstGeom>
          <a:solidFill>
            <a:srgbClr val="1A1E2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362456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local intent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for luxury-apartment and interior-execution searches in Greater Noida West.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441448"/>
            <a:ext cx="457200" cy="457200"/>
          </a:xfrm>
          <a:prstGeom prst="ellipse">
            <a:avLst/>
          </a:prstGeom>
          <a:solidFill>
            <a:srgbClr val="1A1E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441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80160" y="2386584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 rich results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schema so listings, business, and FAQs surface with rich SERP features.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3465576"/>
            <a:ext cx="457200" cy="457200"/>
          </a:xfrm>
          <a:prstGeom prst="ellipse">
            <a:avLst/>
          </a:prstGeom>
          <a:solidFill>
            <a:srgbClr val="1A1E24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0160" y="3410712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social CTR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shared link renders a designed, on-brand preview card across platforms.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4489704"/>
            <a:ext cx="457200" cy="457200"/>
          </a:xfrm>
          <a:prstGeom prst="ellipse">
            <a:avLst/>
          </a:prstGeom>
          <a:solidFill>
            <a:srgbClr val="1A1E24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4897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80160" y="4434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HNI leads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organic + social visibility into qualified site-visit enquiries.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360920" y="1417320"/>
            <a:ext cx="4187952" cy="2011680"/>
          </a:xfrm>
          <a:prstGeom prst="roundRect">
            <a:avLst>
              <a:gd name="adj" fmla="val 3636"/>
            </a:avLst>
          </a:prstGeom>
          <a:solidFill>
            <a:srgbClr val="0E1116"/>
          </a:solidFill>
          <a:ln/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635240" y="1600200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FOOTPRINT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635240" y="1920240"/>
            <a:ext cx="1213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7635240" y="2697480"/>
            <a:ext cx="1213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templates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848344" y="1920240"/>
            <a:ext cx="1213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8848344" y="2697480"/>
            <a:ext cx="1213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types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0061448" y="1920240"/>
            <a:ext cx="1213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000" dirty="0"/>
          </a:p>
        </p:txBody>
      </p:sp>
      <p:sp>
        <p:nvSpPr>
          <p:cNvPr id="24" name="Text 22"/>
          <p:cNvSpPr/>
          <p:nvPr/>
        </p:nvSpPr>
        <p:spPr>
          <a:xfrm>
            <a:off x="10061448" y="2697480"/>
            <a:ext cx="1213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channels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360920" y="3703320"/>
            <a:ext cx="4187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KEYWORDS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360920" y="4069080"/>
            <a:ext cx="4187952" cy="475488"/>
          </a:xfrm>
          <a:prstGeom prst="roundRect">
            <a:avLst>
              <a:gd name="adj" fmla="val 1923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43800" y="4251960"/>
            <a:ext cx="109728" cy="109728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28" name="Text 26"/>
          <p:cNvSpPr/>
          <p:nvPr/>
        </p:nvSpPr>
        <p:spPr>
          <a:xfrm>
            <a:off x="7772400" y="4069080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Luxury Apartments in Greater Noida West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360920" y="4636008"/>
            <a:ext cx="4187952" cy="475488"/>
          </a:xfrm>
          <a:prstGeom prst="roundRect">
            <a:avLst>
              <a:gd name="adj" fmla="val 1923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43800" y="4818888"/>
            <a:ext cx="109728" cy="109728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31" name="Text 29"/>
          <p:cNvSpPr/>
          <p:nvPr/>
        </p:nvSpPr>
        <p:spPr>
          <a:xfrm>
            <a:off x="7772400" y="4636008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BHK &amp; 4 BHK Luxury Residences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360920" y="5202936"/>
            <a:ext cx="4187952" cy="475488"/>
          </a:xfrm>
          <a:prstGeom prst="roundRect">
            <a:avLst>
              <a:gd name="adj" fmla="val 1923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43800" y="5385816"/>
            <a:ext cx="109728" cy="109728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34" name="Text 32"/>
          <p:cNvSpPr/>
          <p:nvPr/>
        </p:nvSpPr>
        <p:spPr>
          <a:xfrm>
            <a:off x="7772400" y="5202936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AQI-managed living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360920" y="5769864"/>
            <a:ext cx="4187952" cy="475488"/>
          </a:xfrm>
          <a:prstGeom prst="roundRect">
            <a:avLst>
              <a:gd name="adj" fmla="val 1923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43800" y="5952744"/>
            <a:ext cx="109728" cy="109728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37" name="Text 35"/>
          <p:cNvSpPr/>
          <p:nvPr/>
        </p:nvSpPr>
        <p:spPr>
          <a:xfrm>
            <a:off x="7772400" y="5769864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Luxury Interior Execution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805672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  ·  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Four-Layer System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7589520" cy="841248"/>
          </a:xfrm>
          <a:prstGeom prst="roundRect">
            <a:avLst>
              <a:gd name="adj" fmla="val 7609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" y="1618488"/>
            <a:ext cx="438912" cy="438912"/>
          </a:xfrm>
          <a:prstGeom prst="ellipse">
            <a:avLst/>
          </a:prstGeom>
          <a:solidFill>
            <a:srgbClr val="141A22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6184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54480" y="1490472"/>
            <a:ext cx="6492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Distribution &amp; Authority</a:t>
            </a:r>
            <a:endParaRPr lang="en-US" sz="15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 · Pinterest · LinkedIn · YouTube · sameAs entity bridge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40080" y="2368296"/>
            <a:ext cx="7589520" cy="841248"/>
          </a:xfrm>
          <a:prstGeom prst="roundRect">
            <a:avLst>
              <a:gd name="adj" fmla="val 7609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2569464"/>
            <a:ext cx="438912" cy="438912"/>
          </a:xfrm>
          <a:prstGeom prst="ellipse">
            <a:avLst/>
          </a:prstGeom>
          <a:solidFill>
            <a:srgbClr val="141A22"/>
          </a:solidFill>
          <a:ln w="15875">
            <a:solidFill>
              <a:srgbClr val="E3C89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5694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54480" y="2441448"/>
            <a:ext cx="6492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Data (JSON-LD)</a:t>
            </a:r>
            <a:endParaRPr lang="en-US" sz="15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RealEstateListing · HomeAndConstructionBusiness · FAQPage · Organization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319272"/>
            <a:ext cx="7589520" cy="841248"/>
          </a:xfrm>
          <a:prstGeom prst="roundRect">
            <a:avLst>
              <a:gd name="adj" fmla="val 7609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6112" y="3520440"/>
            <a:ext cx="438912" cy="438912"/>
          </a:xfrm>
          <a:prstGeom prst="ellipse">
            <a:avLst/>
          </a:prstGeom>
          <a:solidFill>
            <a:srgbClr val="141A22"/>
          </a:solidFill>
          <a:ln w="15875">
            <a:solidFill>
              <a:srgbClr val="BFC7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" y="3520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FC7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54480" y="3392424"/>
            <a:ext cx="6492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&amp; Metadata</a:t>
            </a:r>
            <a:endParaRPr lang="en-US" sz="15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Titles · Descriptions · Open Graph · Twitter Cards · previews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640080" y="4270248"/>
            <a:ext cx="7589520" cy="841248"/>
          </a:xfrm>
          <a:prstGeom prst="roundRect">
            <a:avLst>
              <a:gd name="adj" fmla="val 7609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96112" y="4471416"/>
            <a:ext cx="438912" cy="438912"/>
          </a:xfrm>
          <a:prstGeom prst="ellipse">
            <a:avLst/>
          </a:prstGeom>
          <a:solidFill>
            <a:srgbClr val="141A22"/>
          </a:solidFill>
          <a:ln w="15875">
            <a:solidFill>
              <a:srgbClr val="8B93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" y="44714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B9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554480" y="4343400"/>
            <a:ext cx="6492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&amp; Crawl Control</a:t>
            </a:r>
            <a:endParaRPr lang="en-US" sz="15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domain · 301 redirects · robots.txt · XML sitemaps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8595360" y="1417320"/>
            <a:ext cx="2953512" cy="3913632"/>
          </a:xfrm>
          <a:prstGeom prst="roundRect">
            <a:avLst>
              <a:gd name="adj" fmla="val 2477"/>
            </a:avLst>
          </a:prstGeom>
          <a:solidFill>
            <a:srgbClr val="C6A15B"/>
          </a:solidFill>
          <a:ln/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869680" y="164592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869680" y="2057400"/>
            <a:ext cx="240487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→"/>
            </a:pPr>
            <a:r>
              <a:rPr lang="en-US" sz="145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local rankings</a:t>
            </a:r>
            <a:endParaRPr lang="en-US" sz="1450" dirty="0"/>
          </a:p>
          <a:p>
            <a:pPr marL="228600" indent="-228600">
              <a:spcAft>
                <a:spcPts val="1200"/>
              </a:spcAft>
              <a:buSzPct val="100000"/>
              <a:buChar char="→"/>
            </a:pPr>
            <a:r>
              <a:rPr lang="en-US" sz="145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SERP results</a:t>
            </a:r>
            <a:endParaRPr lang="en-US" sz="1450" dirty="0"/>
          </a:p>
          <a:p>
            <a:pPr marL="228600" indent="-228600">
              <a:spcAft>
                <a:spcPts val="1200"/>
              </a:spcAft>
              <a:buSzPct val="100000"/>
              <a:buChar char="→"/>
            </a:pPr>
            <a:r>
              <a:rPr lang="en-US" sz="145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social previews</a:t>
            </a:r>
            <a:endParaRPr lang="en-US" sz="1450" dirty="0"/>
          </a:p>
          <a:p>
            <a:pPr marL="228600" indent="-228600">
              <a:spcAft>
                <a:spcPts val="1200"/>
              </a:spcAft>
              <a:buSzPct val="100000"/>
              <a:buChar char="→"/>
            </a:pPr>
            <a:r>
              <a:rPr lang="en-US" sz="145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Knowledge Panel</a:t>
            </a:r>
            <a:endParaRPr lang="en-US" sz="1450" dirty="0"/>
          </a:p>
          <a:p>
            <a:pPr marL="228600" indent="-228600">
              <a:spcAft>
                <a:spcPts val="1200"/>
              </a:spcAft>
              <a:buSzPct val="100000"/>
              <a:buChar char="→"/>
            </a:pPr>
            <a:r>
              <a:rPr lang="en-US" sz="145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HNI enquiries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0080" y="553212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depends on the one beneath it — build bottom-up: foundation first, distribution last.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805672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  ·  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Roadmap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563624" y="1554480"/>
            <a:ext cx="640080" cy="640080"/>
          </a:xfrm>
          <a:prstGeom prst="ellipse">
            <a:avLst/>
          </a:prstGeom>
          <a:solidFill>
            <a:srgbClr val="1A1E24"/>
          </a:solidFill>
          <a:ln/>
        </p:spPr>
      </p:sp>
      <p:sp>
        <p:nvSpPr>
          <p:cNvPr id="6" name="Text 4"/>
          <p:cNvSpPr/>
          <p:nvPr/>
        </p:nvSpPr>
        <p:spPr>
          <a:xfrm>
            <a:off x="1563624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640080" y="2423160"/>
            <a:ext cx="2487168" cy="3246120"/>
          </a:xfrm>
          <a:prstGeom prst="roundRect">
            <a:avLst>
              <a:gd name="adj" fmla="val 294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260604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68680" y="2852928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68680" y="3310128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" y="3703320"/>
            <a:ext cx="20756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 single canonical domain (HTTPS, non-www)</a:t>
            </a:r>
            <a:endParaRPr lang="en-US" sz="110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robots.txt + sitemap index</a:t>
            </a:r>
            <a:endParaRPr lang="en-US" sz="110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to Search Console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70832" y="1554480"/>
            <a:ext cx="640080" cy="640080"/>
          </a:xfrm>
          <a:prstGeom prst="ellipse">
            <a:avLst/>
          </a:prstGeom>
          <a:solidFill>
            <a:srgbClr val="1A1E24"/>
          </a:solidFill>
          <a:ln/>
        </p:spPr>
      </p:sp>
      <p:sp>
        <p:nvSpPr>
          <p:cNvPr id="13" name="Text 11"/>
          <p:cNvSpPr/>
          <p:nvPr/>
        </p:nvSpPr>
        <p:spPr>
          <a:xfrm>
            <a:off x="4370832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3447288" y="2423160"/>
            <a:ext cx="2487168" cy="3246120"/>
          </a:xfrm>
          <a:prstGeom prst="roundRect">
            <a:avLst>
              <a:gd name="adj" fmla="val 294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675888" y="260604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75888" y="2852928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Metadata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675888" y="3310128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2–3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75888" y="3703320"/>
            <a:ext cx="20756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out title/description templates</a:t>
            </a:r>
            <a:endParaRPr lang="en-US" sz="110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Open Graph + Twitter Cards</a:t>
            </a:r>
            <a:endParaRPr lang="en-US" sz="110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social preview images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178040" y="1554480"/>
            <a:ext cx="640080" cy="640080"/>
          </a:xfrm>
          <a:prstGeom prst="ellipse">
            <a:avLst/>
          </a:prstGeom>
          <a:solidFill>
            <a:srgbClr val="1A1E24"/>
          </a:solidFill>
          <a:ln/>
        </p:spPr>
      </p:sp>
      <p:sp>
        <p:nvSpPr>
          <p:cNvPr id="20" name="Text 18"/>
          <p:cNvSpPr/>
          <p:nvPr/>
        </p:nvSpPr>
        <p:spPr>
          <a:xfrm>
            <a:off x="717804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6254496" y="2423160"/>
            <a:ext cx="2487168" cy="3246120"/>
          </a:xfrm>
          <a:prstGeom prst="roundRect">
            <a:avLst>
              <a:gd name="adj" fmla="val 294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83096" y="260604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83096" y="2852928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Schema &amp; Speed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483096" y="3310128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3–5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83096" y="3703320"/>
            <a:ext cx="20756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all four JSON-LD types</a:t>
            </a:r>
            <a:endParaRPr lang="en-US" sz="110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Core Web Vitals (LCP/CLS/INP)</a:t>
            </a:r>
            <a:endParaRPr lang="en-US" sz="110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rich results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985248" y="1554480"/>
            <a:ext cx="640080" cy="640080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27" name="Text 25"/>
          <p:cNvSpPr/>
          <p:nvPr/>
        </p:nvSpPr>
        <p:spPr>
          <a:xfrm>
            <a:off x="9985248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061704" y="2423160"/>
            <a:ext cx="2487168" cy="3246120"/>
          </a:xfrm>
          <a:prstGeom prst="roundRect">
            <a:avLst>
              <a:gd name="adj" fmla="val 294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290304" y="260604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290304" y="2852928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9290304" y="3310128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290304" y="3703320"/>
            <a:ext cx="20756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content pillars &amp; cadence</a:t>
            </a:r>
            <a:endParaRPr lang="en-US" sz="110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sameAs to Knowledge Panel</a:t>
            </a:r>
            <a:endParaRPr lang="en-US" sz="110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validation in CI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" y="58064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Milestone: validation passing in CI and rich results confirmed before public launch push.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805672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  ·  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02 · DETAIL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Metadata That Wins the Click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08760"/>
            <a:ext cx="603504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5875">
            <a:solidFill>
              <a:srgbClr val="E4E0D6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691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SERP PREVIEW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14400" y="2057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7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 › apartments › 3-bhk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23317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0D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BHK Luxury Apartments in Greater Noida West | Fab Luxe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278892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51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an AQI-managed 3 BHK luxury residence in Greater Noida West. Premium fittings, curated amenities &amp; RERA-ready homes. Enquire for pricing &amp; floor plans.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" y="4023360"/>
            <a:ext cx="310896" cy="31089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3931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 </a:t>
            </a:r>
            <a:pPr indent="0" marL="0">
              <a:buNone/>
            </a:pPr>
            <a:r>
              <a:rPr lang="en-US" sz="120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60 chars · ~580px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43000" y="42336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Front-load keyword, brand last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" y="4681728"/>
            <a:ext cx="310896" cy="31089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459028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 </a:t>
            </a:r>
            <a:pPr indent="0" marL="0">
              <a:buNone/>
            </a:pPr>
            <a:r>
              <a:rPr lang="en-US" sz="120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155 chars · ~920px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43000" y="4892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+ differentiator + CTA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5340096"/>
            <a:ext cx="310896" cy="31089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17" name="Text 15"/>
          <p:cNvSpPr/>
          <p:nvPr/>
        </p:nvSpPr>
        <p:spPr>
          <a:xfrm>
            <a:off x="1143000" y="5248656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Uniqueness  </a:t>
            </a:r>
            <a:pPr indent="0" marL="0">
              <a:buNone/>
            </a:pPr>
            <a:r>
              <a:rPr lang="en-US" sz="120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 URL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43000" y="55504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duplicate across pages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086600" y="1508760"/>
            <a:ext cx="4462272" cy="4434840"/>
          </a:xfrm>
          <a:prstGeom prst="roundRect">
            <a:avLst>
              <a:gd name="adj" fmla="val 1649"/>
            </a:avLst>
          </a:prstGeom>
          <a:solidFill>
            <a:srgbClr val="0E1116"/>
          </a:solidFill>
          <a:ln/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06640" y="1737360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TEMPLATE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406640" y="2148840"/>
            <a:ext cx="3822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E3C8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 =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5F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{{Keyword}} in {{Location}} | Fab Luxe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406640" y="2880360"/>
            <a:ext cx="3822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E3C8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  =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5F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{{ValueProp}} {{Location}} with {{Differentiator}}. {{CTA}}.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06640" y="3840480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ROTATING VARIABLES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406640" y="4160520"/>
            <a:ext cx="382219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Differentiator: 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AQI-managed · RERA-ready · designer interiors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CTA: 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 site visit · Request floor plans · Enquire now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Fallback: 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emit an empty description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805672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  ·  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02 · DETAIL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Graph &amp; Preview Cards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4937760" cy="37490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5875">
            <a:solidFill>
              <a:srgbClr val="E4E0D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554480"/>
            <a:ext cx="4937760" cy="2331720"/>
          </a:xfrm>
          <a:prstGeom prst="roundRect">
            <a:avLst>
              <a:gd name="adj" fmla="val 3922"/>
            </a:avLst>
          </a:prstGeom>
          <a:solidFill>
            <a:srgbClr val="0E1116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5448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26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</a:t>
            </a:r>
            <a:endParaRPr lang="en-US" sz="9600" dirty="0"/>
          </a:p>
        </p:txBody>
      </p:sp>
      <p:sp>
        <p:nvSpPr>
          <p:cNvPr id="8" name="Text 6"/>
          <p:cNvSpPr/>
          <p:nvPr/>
        </p:nvSpPr>
        <p:spPr>
          <a:xfrm>
            <a:off x="914400" y="35204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1200 × 630  ·  og:image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60120" y="40233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60120" y="427939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Luxury Apartments in Greater Noida West | Fab Luxe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473659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AQI-managed 3 &amp; 4 BHK luxury residences with bespoke interiors. Book a private site visit.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035040" y="1554480"/>
            <a:ext cx="551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DIMENSIONS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965960"/>
            <a:ext cx="5513832" cy="566928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1965960"/>
            <a:ext cx="2770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 master (FB / LinkedIn / WhatsApp)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034272" y="196596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6A1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1200 × 630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634472" y="196596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1.91:1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17920" y="2532888"/>
            <a:ext cx="2770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 feed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034272" y="253288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6A1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1080 × 1350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634472" y="253288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4:5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35040" y="3099816"/>
            <a:ext cx="5513832" cy="566928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21" name="Text 19"/>
          <p:cNvSpPr/>
          <p:nvPr/>
        </p:nvSpPr>
        <p:spPr>
          <a:xfrm>
            <a:off x="6217920" y="3099816"/>
            <a:ext cx="2770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/ Reels / Shorts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034272" y="3099816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6A1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1080 × 1920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634472" y="309981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9:16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17920" y="3666744"/>
            <a:ext cx="2770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Pinterest pin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034272" y="3666744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6A1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 × 1500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634472" y="366674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2:3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035040" y="4233672"/>
            <a:ext cx="5513832" cy="566928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28" name="Text 26"/>
          <p:cNvSpPr/>
          <p:nvPr/>
        </p:nvSpPr>
        <p:spPr>
          <a:xfrm>
            <a:off x="6217920" y="4233672"/>
            <a:ext cx="2770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thumbnail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034272" y="423367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6A1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1280 × 720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634472" y="4233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16:9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035040" y="5029200"/>
            <a:ext cx="5513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i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 </a:t>
            </a:r>
            <a:pPr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WhatsApp OG image under 300 KB or the thumbnail is skipped. Verify every launch in the FB &amp; LinkedIn debuggers.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805672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  ·  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03 · DETAIL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Structured Data (JSON-LD)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5271516" cy="1874520"/>
          </a:xfrm>
          <a:prstGeom prst="roundRect">
            <a:avLst>
              <a:gd name="adj" fmla="val 3902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18288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0E111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3C8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}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600200" y="1810512"/>
            <a:ext cx="4082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E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RealEstateListing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4082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PAGES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400" y="2578608"/>
            <a:ext cx="47228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SingleFamilyResidence: rooms, floor size, geo, amenities, offer.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77356" y="1554480"/>
            <a:ext cx="5271516" cy="1874520"/>
          </a:xfrm>
          <a:prstGeom prst="roundRect">
            <a:avLst>
              <a:gd name="adj" fmla="val 3902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51676" y="18288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0E1116"/>
          </a:solidFill>
          <a:ln/>
        </p:spPr>
      </p:sp>
      <p:sp>
        <p:nvSpPr>
          <p:cNvPr id="13" name="Text 11"/>
          <p:cNvSpPr/>
          <p:nvPr/>
        </p:nvSpPr>
        <p:spPr>
          <a:xfrm>
            <a:off x="6551676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3C8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}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237476" y="1810512"/>
            <a:ext cx="4082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E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HomeAndConstructionBusiness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237476" y="2157984"/>
            <a:ext cx="4082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51676" y="2578608"/>
            <a:ext cx="47228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LocalBusiness subtype: NAP, hours, areaServed, service catalog.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749040"/>
            <a:ext cx="5271516" cy="1874520"/>
          </a:xfrm>
          <a:prstGeom prst="roundRect">
            <a:avLst>
              <a:gd name="adj" fmla="val 3902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14400" y="402336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0E1116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3C8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}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600200" y="4005072"/>
            <a:ext cx="4082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E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FAQPage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600200" y="4352544"/>
            <a:ext cx="4082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HIGH-INTENT QUESTIONS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773168"/>
            <a:ext cx="47228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Location, AQI, RERA, interiors, booking — visible on-page only.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77356" y="3749040"/>
            <a:ext cx="5271516" cy="1874520"/>
          </a:xfrm>
          <a:prstGeom prst="roundRect">
            <a:avLst>
              <a:gd name="adj" fmla="val 3902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551676" y="402336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0E1116"/>
          </a:solidFill>
          <a:ln/>
        </p:spPr>
      </p:sp>
      <p:sp>
        <p:nvSpPr>
          <p:cNvPr id="25" name="Text 23"/>
          <p:cNvSpPr/>
          <p:nvPr/>
        </p:nvSpPr>
        <p:spPr>
          <a:xfrm>
            <a:off x="6551676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3C8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}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237476" y="4005072"/>
            <a:ext cx="4082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E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Organization + WebSite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237476" y="4352544"/>
            <a:ext cx="4082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HOMEPAGE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551676" y="4773168"/>
            <a:ext cx="47228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Logo, sameAs social bridge — powers the Knowledge Panel.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58521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every block:  </a:t>
            </a:r>
            <a:pPr algn="ctr" indent="0" marL="0">
              <a:buNone/>
            </a:pPr>
            <a:r>
              <a:rPr lang="en-US" sz="120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Results Test  ·  Schema Markup Validator  ·  mark up only visible content.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805672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  ·  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01 · DETAIL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Indexing Architecture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3392424" cy="3246120"/>
          </a:xfrm>
          <a:prstGeom prst="roundRect">
            <a:avLst>
              <a:gd name="adj" fmla="val 2254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1828800"/>
            <a:ext cx="457200" cy="457200"/>
          </a:xfrm>
          <a:prstGeom prst="ellipse">
            <a:avLst/>
          </a:prstGeom>
          <a:solidFill>
            <a:srgbClr val="141A22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54480" y="1828800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Canonical Domain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2514600"/>
            <a:ext cx="275234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HTTPS + non-www via 301</a:t>
            </a:r>
            <a:endParaRPr lang="en-US" sz="12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Self-referential canonical tag</a:t>
            </a:r>
            <a:endParaRPr lang="en-US" sz="12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utm / gclid / fbclid params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98264" y="1554480"/>
            <a:ext cx="3392424" cy="3246120"/>
          </a:xfrm>
          <a:prstGeom prst="roundRect">
            <a:avLst>
              <a:gd name="adj" fmla="val 2254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18304" y="1828800"/>
            <a:ext cx="457200" cy="457200"/>
          </a:xfrm>
          <a:prstGeom prst="ellipse">
            <a:avLst/>
          </a:prstGeom>
          <a:solidFill>
            <a:srgbClr val="141A22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18304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312664" y="1828800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robots.txt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64024" y="2514600"/>
            <a:ext cx="275234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reputable crawlers</a:t>
            </a:r>
            <a:endParaRPr lang="en-US" sz="12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/admin, /staging, /checkout</a:t>
            </a:r>
            <a:endParaRPr lang="en-US" sz="12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to sitemap index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56448" y="1554480"/>
            <a:ext cx="3392424" cy="3246120"/>
          </a:xfrm>
          <a:prstGeom prst="roundRect">
            <a:avLst>
              <a:gd name="adj" fmla="val 2254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76488" y="1828800"/>
            <a:ext cx="457200" cy="457200"/>
          </a:xfrm>
          <a:prstGeom prst="ellipse">
            <a:avLst/>
          </a:prstGeom>
          <a:solidFill>
            <a:srgbClr val="141A22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648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070848" y="1828800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XML Sitemaps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22208" y="2514600"/>
            <a:ext cx="275234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→ pages + listings</a:t>
            </a:r>
            <a:endParaRPr lang="en-US" sz="12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lastmod dates</a:t>
            </a:r>
            <a:endParaRPr lang="en-US" sz="12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in Search Console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074920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262E3A"/>
          </a:solidFill>
          <a:ln w="12700">
            <a:solidFill>
              <a:srgbClr val="C6A15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60120" y="5330952"/>
            <a:ext cx="365760" cy="365760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" y="5330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554480" y="5074920"/>
            <a:ext cx="9720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Critical: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robots.txt Disallow blocks crawling, not indexing. To keep a page out of the index, allow crawl and use a noindex meta tag instead.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805672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  ·  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Web Vitals Blueprint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3392424" cy="18288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/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737360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2.5s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914400" y="2926080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Contentful Paint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98264" y="1554480"/>
            <a:ext cx="3392424" cy="18288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/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72584" y="1737360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98264" y="201168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200ms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4672584" y="2926080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 to Next Paint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56448" y="1554480"/>
            <a:ext cx="3392424" cy="18288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/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30768" y="1737360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56448" y="201168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0.1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8430768" y="2926080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Layout Shift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370332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F3F1EA"/>
          </a:solidFill>
          <a:ln w="12700">
            <a:solidFill>
              <a:srgbClr val="C6A15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LCP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298448" y="3657600"/>
            <a:ext cx="44942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AVIF/WebP hero, sized via srcset; fetchpriority=high; never lazy-load it.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23076" y="370332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F3F1EA"/>
          </a:solidFill>
          <a:ln w="12700">
            <a:solidFill>
              <a:srgbClr val="C6A15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23076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LCP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981444" y="3657600"/>
            <a:ext cx="44942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Preload hero, preconnect to CDN/fonts, self-host fonts with font-display:swap.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47548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F3F1EA"/>
          </a:solidFill>
          <a:ln w="12700">
            <a:solidFill>
              <a:srgbClr val="C6A15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754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298448" y="4709160"/>
            <a:ext cx="44942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 + height (or aspect-ratio) on every image, video, iframe &amp; embed.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323076" y="47548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F3F1EA"/>
          </a:solidFill>
          <a:ln w="12700">
            <a:solidFill>
              <a:srgbClr val="C6A15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23076" y="4754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981444" y="4709160"/>
            <a:ext cx="44942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Lazy-load below-fold gallery; load 3D tours via click-to-open facade.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58978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with PageSpeed Insights (field) + Lighthouse CI (lab), gate regressions in the pipeline.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805672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  ·  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04 · DETAIL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Cross-Platform Distribution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5271516" cy="1965960"/>
          </a:xfrm>
          <a:prstGeom prst="roundRect">
            <a:avLst>
              <a:gd name="adj" fmla="val 372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2688" y="1847088"/>
            <a:ext cx="548640" cy="548640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45920" y="1865376"/>
            <a:ext cx="40370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Instagram &amp; Pinterest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45920" y="2231136"/>
            <a:ext cx="4037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AESTHETICS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32688" y="2651760"/>
            <a:ext cx="46863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renders, site progress, AQI features, material textures. Geo-tag every post; Rich Pins on.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77356" y="1554480"/>
            <a:ext cx="5271516" cy="1965960"/>
          </a:xfrm>
          <a:prstGeom prst="roundRect">
            <a:avLst>
              <a:gd name="adj" fmla="val 372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69964" y="1847088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569964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283196" y="1865376"/>
            <a:ext cx="40370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LinkedIn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283196" y="2231136"/>
            <a:ext cx="4037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AUTHORITY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9964" y="2651760"/>
            <a:ext cx="46863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Architects, designers, investors &amp; HNIs. Thought-leadership, project showcases, lead-gen forms.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840480"/>
            <a:ext cx="5271516" cy="1965960"/>
          </a:xfrm>
          <a:prstGeom prst="roundRect">
            <a:avLst>
              <a:gd name="adj" fmla="val 372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32688" y="4133088"/>
            <a:ext cx="548640" cy="54864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9" name="Text 17"/>
          <p:cNvSpPr/>
          <p:nvPr/>
        </p:nvSpPr>
        <p:spPr>
          <a:xfrm>
            <a:off x="932688" y="4133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645920" y="4151376"/>
            <a:ext cx="40370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YouTube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45920" y="4517136"/>
            <a:ext cx="4037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&amp; TRUST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32688" y="4937760"/>
            <a:ext cx="46863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walkthroughs with chaptered, keyword-first descriptions and hashtag clusters.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77356" y="3840480"/>
            <a:ext cx="5271516" cy="1965960"/>
          </a:xfrm>
          <a:prstGeom prst="roundRect">
            <a:avLst>
              <a:gd name="adj" fmla="val 3721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569964" y="4133088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5" name="Text 23"/>
          <p:cNvSpPr/>
          <p:nvPr/>
        </p:nvSpPr>
        <p:spPr>
          <a:xfrm>
            <a:off x="6569964" y="4133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283196" y="4151376"/>
            <a:ext cx="40370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Reels &amp; Shorts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283196" y="4517136"/>
            <a:ext cx="4037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569964" y="4937760"/>
            <a:ext cx="46863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9:16, hook in 2 seconds, on-screen captions always, 3–5 hashtags max.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805672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  · 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CADENCE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 Pillars &amp; Effort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27048"/>
            <a:ext cx="402336" cy="402336"/>
          </a:xfrm>
          <a:prstGeom prst="ellipse">
            <a:avLst/>
          </a:prstGeom>
          <a:solidFill>
            <a:srgbClr val="1A1E2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27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07008" y="14630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Renders</a:t>
            </a:r>
            <a:endParaRPr lang="en-US" sz="14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Carousels &amp; vertical pins per room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2395728"/>
            <a:ext cx="402336" cy="402336"/>
          </a:xfrm>
          <a:prstGeom prst="ellipse">
            <a:avLst/>
          </a:prstGeom>
          <a:solidFill>
            <a:srgbClr val="1A1E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395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07008" y="233172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Progress</a:t>
            </a:r>
            <a:endParaRPr lang="en-US" sz="14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reels &amp; construction updates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3264408"/>
            <a:ext cx="402336" cy="402336"/>
          </a:xfrm>
          <a:prstGeom prst="ellipse">
            <a:avLst/>
          </a:prstGeom>
          <a:solidFill>
            <a:srgbClr val="1A1E24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264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07008" y="32004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AQI &amp; Wellness</a:t>
            </a:r>
            <a:endParaRPr lang="en-US" sz="14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Explainer reels + infographics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40080" y="4133088"/>
            <a:ext cx="402336" cy="402336"/>
          </a:xfrm>
          <a:prstGeom prst="ellipse">
            <a:avLst/>
          </a:prstGeom>
          <a:solidFill>
            <a:srgbClr val="1A1E24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133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07008" y="40690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Textures</a:t>
            </a:r>
            <a:endParaRPr lang="en-US" sz="14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Marble, veneer &amp; brass close-ups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40080" y="5001768"/>
            <a:ext cx="402336" cy="402336"/>
          </a:xfrm>
          <a:prstGeom prst="ellipse">
            <a:avLst/>
          </a:prstGeom>
          <a:solidFill>
            <a:srgbClr val="1A1E24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50017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07008" y="49377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1A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Amenities &amp; Lifestyle</a:t>
            </a:r>
            <a:endParaRPr lang="en-US" sz="14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Golden-hour clubhouse &amp; pool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ALLOCATION</a:t>
            </a:r>
            <a:endParaRPr lang="en-US" sz="11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6858000" y="1783080"/>
          <a:ext cx="46634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8805672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  · 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DO IT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Validation Workflow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08760"/>
            <a:ext cx="6766560" cy="932688"/>
          </a:xfrm>
          <a:prstGeom prst="roundRect">
            <a:avLst>
              <a:gd name="adj" fmla="val 6863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" y="1746504"/>
            <a:ext cx="457200" cy="457200"/>
          </a:xfrm>
          <a:prstGeom prst="ellipse">
            <a:avLst/>
          </a:prstGeom>
          <a:solidFill>
            <a:srgbClr val="141A22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746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54480" y="1600200"/>
            <a:ext cx="5760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crawl files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robots.txt reachable, no site-wide Disallow; sitemap is well-formed XML with a valid index.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551176"/>
            <a:ext cx="6766560" cy="932688"/>
          </a:xfrm>
          <a:prstGeom prst="roundRect">
            <a:avLst>
              <a:gd name="adj" fmla="val 6863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2788920"/>
            <a:ext cx="457200" cy="457200"/>
          </a:xfrm>
          <a:prstGeom prst="ellipse">
            <a:avLst/>
          </a:prstGeom>
          <a:solidFill>
            <a:srgbClr val="141A22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54480" y="2642616"/>
            <a:ext cx="5760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tags per page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 og:title, og:image, og:url, canonical &amp; twitter:card exist on every template.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3593592"/>
            <a:ext cx="6766560" cy="932688"/>
          </a:xfrm>
          <a:prstGeom prst="roundRect">
            <a:avLst>
              <a:gd name="adj" fmla="val 6863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6112" y="3831336"/>
            <a:ext cx="457200" cy="457200"/>
          </a:xfrm>
          <a:prstGeom prst="ellipse">
            <a:avLst/>
          </a:prstGeom>
          <a:solidFill>
            <a:srgbClr val="141A22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" y="3831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554480" y="3685032"/>
            <a:ext cx="5760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JSON-LD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each ld+json block and parse it — fail the build on any malformed schema.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40080" y="4636008"/>
            <a:ext cx="6766560" cy="932688"/>
          </a:xfrm>
          <a:prstGeom prst="roundRect">
            <a:avLst>
              <a:gd name="adj" fmla="val 6863"/>
            </a:avLst>
          </a:prstGeom>
          <a:solidFill>
            <a:srgbClr val="1E2530"/>
          </a:solidFill>
          <a:ln w="12700">
            <a:solidFill>
              <a:srgbClr val="262E3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96112" y="4873752"/>
            <a:ext cx="457200" cy="457200"/>
          </a:xfrm>
          <a:prstGeom prst="ellipse">
            <a:avLst/>
          </a:prstGeom>
          <a:solidFill>
            <a:srgbClr val="141A22"/>
          </a:solidFill>
          <a:ln w="15875">
            <a:solidFill>
              <a:srgbClr val="C6A1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" y="4873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54480" y="4727448"/>
            <a:ext cx="5760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in CI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seo-validate on every push + weekly cron; block merges when checks fail.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7772400" y="1508760"/>
            <a:ext cx="3776472" cy="4160520"/>
          </a:xfrm>
          <a:prstGeom prst="roundRect">
            <a:avLst>
              <a:gd name="adj" fmla="val 1937"/>
            </a:avLst>
          </a:prstGeom>
          <a:solidFill>
            <a:srgbClr val="060809"/>
          </a:solidFill>
          <a:ln w="12700">
            <a:solidFill>
              <a:srgbClr val="262E3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046720" y="1737360"/>
            <a:ext cx="146304" cy="146304"/>
          </a:xfrm>
          <a:prstGeom prst="ellipse">
            <a:avLst/>
          </a:prstGeom>
          <a:solidFill>
            <a:srgbClr val="E06C5E"/>
          </a:solidFill>
          <a:ln/>
        </p:spPr>
      </p:sp>
      <p:sp>
        <p:nvSpPr>
          <p:cNvPr id="23" name="Shape 21"/>
          <p:cNvSpPr/>
          <p:nvPr/>
        </p:nvSpPr>
        <p:spPr>
          <a:xfrm>
            <a:off x="8275320" y="1737360"/>
            <a:ext cx="146304" cy="146304"/>
          </a:xfrm>
          <a:prstGeom prst="ellipse">
            <a:avLst/>
          </a:prstGeom>
          <a:solidFill>
            <a:srgbClr val="E3C892"/>
          </a:solidFill>
          <a:ln/>
        </p:spPr>
      </p:sp>
      <p:sp>
        <p:nvSpPr>
          <p:cNvPr id="24" name="Shape 22"/>
          <p:cNvSpPr/>
          <p:nvPr/>
        </p:nvSpPr>
        <p:spPr>
          <a:xfrm>
            <a:off x="8503920" y="1737360"/>
            <a:ext cx="146304" cy="146304"/>
          </a:xfrm>
          <a:prstGeom prst="ellipse">
            <a:avLst/>
          </a:prstGeom>
          <a:solidFill>
            <a:srgbClr val="7FB77E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2148840"/>
            <a:ext cx="322783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3C8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./seo-validate.sh \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3C8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https://fabluxe.co.in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7FB7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robots.txt  sitemap OK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7FB7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og + canonical  5/5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7FB7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JSON-LD valid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5F2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CHECKS PASSED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" y="58521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3C8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+ PowerShell scripts and a GitHub Actions workflow ship with this plan.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805672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  · 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21031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502920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KPIs &amp; Success Metrics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3422904" cy="1828800"/>
          </a:xfrm>
          <a:prstGeom prst="roundRect">
            <a:avLst>
              <a:gd name="adj" fmla="val 4000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1828800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1773936"/>
            <a:ext cx="2691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CONSOLE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2194560"/>
            <a:ext cx="2874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Organic clicks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14400" y="2651760"/>
            <a:ext cx="2874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in non-brand impressions &amp; clicks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3024" y="1554480"/>
            <a:ext cx="3422904" cy="1828800"/>
          </a:xfrm>
          <a:prstGeom prst="roundRect">
            <a:avLst>
              <a:gd name="adj" fmla="val 4000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57344" y="1828800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12" name="Text 10"/>
          <p:cNvSpPr/>
          <p:nvPr/>
        </p:nvSpPr>
        <p:spPr>
          <a:xfrm>
            <a:off x="4885944" y="1773936"/>
            <a:ext cx="2691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TRACKER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657344" y="2194560"/>
            <a:ext cx="2874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Keyword rankings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657344" y="2651760"/>
            <a:ext cx="2874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Top-3 for priority Greater Noida terms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25968" y="1554480"/>
            <a:ext cx="3422904" cy="1828800"/>
          </a:xfrm>
          <a:prstGeom prst="roundRect">
            <a:avLst>
              <a:gd name="adj" fmla="val 4000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00288" y="1828800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17" name="Text 15"/>
          <p:cNvSpPr/>
          <p:nvPr/>
        </p:nvSpPr>
        <p:spPr>
          <a:xfrm>
            <a:off x="8628888" y="1773936"/>
            <a:ext cx="2691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GSC ENHANCEMENTS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400288" y="2194560"/>
            <a:ext cx="2874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Rich-result coverage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400288" y="2651760"/>
            <a:ext cx="2874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 + listing eligibility, zero errors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3703320"/>
            <a:ext cx="3422904" cy="1828800"/>
          </a:xfrm>
          <a:prstGeom prst="roundRect">
            <a:avLst>
              <a:gd name="adj" fmla="val 4000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14400" y="3977640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22" name="Text 20"/>
          <p:cNvSpPr/>
          <p:nvPr/>
        </p:nvSpPr>
        <p:spPr>
          <a:xfrm>
            <a:off x="1143000" y="3922776"/>
            <a:ext cx="2691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" y="4343400"/>
            <a:ext cx="2874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Social referral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914400" y="4800600"/>
            <a:ext cx="2874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&amp; leads from IG / LinkedIn / YouTube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383024" y="3703320"/>
            <a:ext cx="3422904" cy="1828800"/>
          </a:xfrm>
          <a:prstGeom prst="roundRect">
            <a:avLst>
              <a:gd name="adj" fmla="val 4000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57344" y="3977640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27" name="Text 25"/>
          <p:cNvSpPr/>
          <p:nvPr/>
        </p:nvSpPr>
        <p:spPr>
          <a:xfrm>
            <a:off x="4885944" y="3922776"/>
            <a:ext cx="2691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CRUX / PSI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657344" y="4343400"/>
            <a:ext cx="2874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Web Vitals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4657344" y="4800600"/>
            <a:ext cx="2874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URLs passing all three at p75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125968" y="3703320"/>
            <a:ext cx="3422904" cy="1828800"/>
          </a:xfrm>
          <a:prstGeom prst="roundRect">
            <a:avLst>
              <a:gd name="adj" fmla="val 4000"/>
            </a:avLst>
          </a:prstGeom>
          <a:solidFill>
            <a:srgbClr val="F3F1EA"/>
          </a:solidFill>
          <a:ln w="12700">
            <a:solidFill>
              <a:srgbClr val="E4E0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400288" y="3977640"/>
            <a:ext cx="128016" cy="128016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32" name="Text 30"/>
          <p:cNvSpPr/>
          <p:nvPr/>
        </p:nvSpPr>
        <p:spPr>
          <a:xfrm>
            <a:off x="8628888" y="3922776"/>
            <a:ext cx="2691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400288" y="4343400"/>
            <a:ext cx="2874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enquiries</a:t>
            </a:r>
            <a:endParaRPr lang="en-US" sz="1900" dirty="0"/>
          </a:p>
        </p:txBody>
      </p:sp>
      <p:sp>
        <p:nvSpPr>
          <p:cNvPr id="34" name="Text 32"/>
          <p:cNvSpPr/>
          <p:nvPr/>
        </p:nvSpPr>
        <p:spPr>
          <a:xfrm>
            <a:off x="8400288" y="4800600"/>
            <a:ext cx="2874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site-visit bookings per month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LUXE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805672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  · 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63840" y="365760"/>
            <a:ext cx="493776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0" b="1" dirty="0">
                <a:solidFill>
                  <a:srgbClr val="141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</a:t>
            </a:r>
            <a:endParaRPr lang="en-US" sz="30000" dirty="0"/>
          </a:p>
        </p:txBody>
      </p:sp>
      <p:sp>
        <p:nvSpPr>
          <p:cNvPr id="3" name="Text 1"/>
          <p:cNvSpPr/>
          <p:nvPr/>
        </p:nvSpPr>
        <p:spPr>
          <a:xfrm>
            <a:off x="932688" y="21031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LIVE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649224"/>
            <a:ext cx="146304" cy="146304"/>
          </a:xfrm>
          <a:prstGeom prst="ellipse">
            <a:avLst/>
          </a:prstGeom>
          <a:solidFill>
            <a:srgbClr val="C6A15B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502920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 Checklist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5087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6A15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88720" y="14630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canonical origin enforced via 301s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2219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6A15B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2176272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title, description &amp; OG image per template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93522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6A15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288950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JSON-LD types live and validated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64845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6A15B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648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360273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robots.txt + sitemap submitted in Search Console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17920" y="15087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6A15B"/>
          </a:solidFill>
          <a:ln/>
        </p:spPr>
      </p:sp>
      <p:sp>
        <p:nvSpPr>
          <p:cNvPr id="19" name="Text 17"/>
          <p:cNvSpPr/>
          <p:nvPr/>
        </p:nvSpPr>
        <p:spPr>
          <a:xfrm>
            <a:off x="621792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766560" y="14630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 previews verified on FB, LinkedIn, WhatsApp, X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7920" y="22219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6A15B"/>
          </a:solidFill>
          <a:ln/>
        </p:spPr>
      </p:sp>
      <p:sp>
        <p:nvSpPr>
          <p:cNvPr id="22" name="Text 20"/>
          <p:cNvSpPr/>
          <p:nvPr/>
        </p:nvSpPr>
        <p:spPr>
          <a:xfrm>
            <a:off x="621792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766560" y="2176272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LCP / INP / CLS passing on key mobile pages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17920" y="293522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6A15B"/>
          </a:solidFill>
          <a:ln/>
        </p:spPr>
      </p:sp>
      <p:sp>
        <p:nvSpPr>
          <p:cNvPr id="25" name="Text 23"/>
          <p:cNvSpPr/>
          <p:nvPr/>
        </p:nvSpPr>
        <p:spPr>
          <a:xfrm>
            <a:off x="6217920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766560" y="288950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sameAs URLs matched exactly across channels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17920" y="364845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6A15B"/>
          </a:solidFill>
          <a:ln/>
        </p:spPr>
      </p:sp>
      <p:sp>
        <p:nvSpPr>
          <p:cNvPr id="28" name="Text 26"/>
          <p:cNvSpPr/>
          <p:nvPr/>
        </p:nvSpPr>
        <p:spPr>
          <a:xfrm>
            <a:off x="6217920" y="3648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766560" y="360273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5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seo-validate passing in CI before launch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4663440"/>
            <a:ext cx="10881360" cy="0"/>
          </a:xfrm>
          <a:prstGeom prst="line">
            <a:avLst/>
          </a:prstGeom>
          <a:noFill/>
          <a:ln w="12700">
            <a:solidFill>
              <a:srgbClr val="262E3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4892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3C8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placeholder filled. Every check green. Then push for visibility.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40080" y="54406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i="1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 note:  </a:t>
            </a:r>
            <a:pPr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the valid UP-RERA number + disclaimer on every project page; keep schema pricing/area RERA-accurate.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0080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fabluxe.co.in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Fab Luxe — SEO &amp; Social Media Strategy</dc:title>
  <dc:subject>PptxGenJS Presentation</dc:subject>
  <dc:creator>Fab Luxe</dc:creator>
  <cp:lastModifiedBy>Fab Luxe</cp:lastModifiedBy>
  <cp:revision>1</cp:revision>
  <dcterms:created xsi:type="dcterms:W3CDTF">2026-07-30T09:54:51Z</dcterms:created>
  <dcterms:modified xsi:type="dcterms:W3CDTF">2026-07-30T09:54:51Z</dcterms:modified>
</cp:coreProperties>
</file>